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7995e214f64402" /><Relationship Type="http://schemas.openxmlformats.org/officeDocument/2006/relationships/extended-properties" Target="/docProps/app.xml" Id="Rda6b06a28d5641ad" /><Relationship Type="http://schemas.openxmlformats.org/officeDocument/2006/relationships/officeDocument" Target="/ppt/presentation.xml" Id="R55a0150ef30e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128766cc44de3"/>
  </p:sldMasterIdLst>
  <p:notesMasterIdLst>
    <p:notesMasterId xmlns:r="http://schemas.openxmlformats.org/officeDocument/2006/relationships" r:id="Rbd52d8d7dea944ff"/>
  </p:notesMasterIdLst>
  <p:sldIdLst>
    <p:sldId xmlns:r="http://schemas.openxmlformats.org/officeDocument/2006/relationships" id="256" r:id="R895f894953fe4357"/>
    <p:sldId xmlns:r="http://schemas.openxmlformats.org/officeDocument/2006/relationships" id="257" r:id="Race7ef89dd0a4f0a"/>
    <p:sldId xmlns:r="http://schemas.openxmlformats.org/officeDocument/2006/relationships" id="258" r:id="R176761d295524f68"/>
    <p:sldId xmlns:r="http://schemas.openxmlformats.org/officeDocument/2006/relationships" id="259" r:id="R95a1f5906d25413b"/>
    <p:sldId xmlns:r="http://schemas.openxmlformats.org/officeDocument/2006/relationships" id="260" r:id="R944a671b856d47cc"/>
    <p:sldId xmlns:r="http://schemas.openxmlformats.org/officeDocument/2006/relationships" id="261" r:id="R03cd8c8c09814333"/>
    <p:sldId xmlns:r="http://schemas.openxmlformats.org/officeDocument/2006/relationships" id="262" r:id="R059601020dac4d36"/>
    <p:sldId xmlns:r="http://schemas.openxmlformats.org/officeDocument/2006/relationships" id="263" r:id="R11ad6440fa4b41ee"/>
    <p:sldId xmlns:r="http://schemas.openxmlformats.org/officeDocument/2006/relationships" id="264" r:id="R634a296c604644a3"/>
    <p:sldId xmlns:r="http://schemas.openxmlformats.org/officeDocument/2006/relationships" id="265" r:id="R12526ccf2af24cf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128766cc44de3" /><Relationship Type="http://schemas.openxmlformats.org/officeDocument/2006/relationships/theme" Target="/ppt/theme/theme1.xml" Id="R2c45240673224c60" /><Relationship Type="http://schemas.openxmlformats.org/officeDocument/2006/relationships/notesMaster" Target="/ppt/notesMasters/notesMaster1.xml" Id="Rbd52d8d7dea944ff" /><Relationship Type="http://schemas.openxmlformats.org/officeDocument/2006/relationships/presProps" Target="/ppt/presProps.xml" Id="Rd522d847a3b44b5b" /><Relationship Type="http://schemas.openxmlformats.org/officeDocument/2006/relationships/viewProps" Target="/ppt/viewProps.xml" Id="R8a0e576f3e044c2c" /><Relationship Type="http://schemas.openxmlformats.org/officeDocument/2006/relationships/tableStyles" Target="/ppt/tableStyles.xml" Id="Rcf7165a58adc4103" /><Relationship Type="http://schemas.openxmlformats.org/officeDocument/2006/relationships/slide" Target="/ppt/slides/slide1.xml" Id="R895f894953fe4357" /><Relationship Type="http://schemas.openxmlformats.org/officeDocument/2006/relationships/slide" Target="/ppt/slides/slide2.xml" Id="Race7ef89dd0a4f0a" /><Relationship Type="http://schemas.openxmlformats.org/officeDocument/2006/relationships/slide" Target="/ppt/slides/slide3.xml" Id="R176761d295524f68" /><Relationship Type="http://schemas.openxmlformats.org/officeDocument/2006/relationships/slide" Target="/ppt/slides/slide4.xml" Id="R95a1f5906d25413b" /><Relationship Type="http://schemas.openxmlformats.org/officeDocument/2006/relationships/slide" Target="/ppt/slides/slide5.xml" Id="R944a671b856d47cc" /><Relationship Type="http://schemas.openxmlformats.org/officeDocument/2006/relationships/slide" Target="/ppt/slides/slide6.xml" Id="R03cd8c8c09814333" /><Relationship Type="http://schemas.openxmlformats.org/officeDocument/2006/relationships/slide" Target="/ppt/slides/slide7.xml" Id="R059601020dac4d36" /><Relationship Type="http://schemas.openxmlformats.org/officeDocument/2006/relationships/slide" Target="/ppt/slides/slide8.xml" Id="R11ad6440fa4b41ee" /><Relationship Type="http://schemas.openxmlformats.org/officeDocument/2006/relationships/slide" Target="/ppt/slides/slide9.xml" Id="R634a296c604644a3" /><Relationship Type="http://schemas.openxmlformats.org/officeDocument/2006/relationships/slide" Target="/ppt/slides/slide10.xml" Id="R12526ccf2af24c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636aa64eea643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01725d42b54663" /><Relationship Type="http://schemas.openxmlformats.org/officeDocument/2006/relationships/notesMaster" Target="/ppt/notesMasters/notesMaster1.xml" Id="Ra45909d205bd41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89bb4998e54341" /><Relationship Type="http://schemas.openxmlformats.org/officeDocument/2006/relationships/notesMaster" Target="/ppt/notesMasters/notesMaster1.xml" Id="Rc258c3765b2041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58c4783bc4e52" /><Relationship Type="http://schemas.openxmlformats.org/officeDocument/2006/relationships/notesMaster" Target="/ppt/notesMasters/notesMaster1.xml" Id="Re62351f679e3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f9f9e51fc4be1" /><Relationship Type="http://schemas.openxmlformats.org/officeDocument/2006/relationships/notesMaster" Target="/ppt/notesMasters/notesMaster1.xml" Id="Rbf130ba8b6134e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cf4353cb274def" /><Relationship Type="http://schemas.openxmlformats.org/officeDocument/2006/relationships/notesMaster" Target="/ppt/notesMasters/notesMaster1.xml" Id="R1f1e3efa3a5f41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c06a222024488d" /><Relationship Type="http://schemas.openxmlformats.org/officeDocument/2006/relationships/notesMaster" Target="/ppt/notesMasters/notesMaster1.xml" Id="R8f6a5e3368d745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b1d627373f4a9a" /><Relationship Type="http://schemas.openxmlformats.org/officeDocument/2006/relationships/notesMaster" Target="/ppt/notesMasters/notesMaster1.xml" Id="R3b3d059d8bcc42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bba10535cb4166" /><Relationship Type="http://schemas.openxmlformats.org/officeDocument/2006/relationships/notesMaster" Target="/ppt/notesMasters/notesMaster1.xml" Id="Reab3bc3d36e44f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35a1caeebf4dc1" /><Relationship Type="http://schemas.openxmlformats.org/officeDocument/2006/relationships/notesMaster" Target="/ppt/notesMasters/notesMaster1.xml" Id="R4effced778cd42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07397abff94084" /><Relationship Type="http://schemas.openxmlformats.org/officeDocument/2006/relationships/notesMaster" Target="/ppt/notesMasters/notesMaster1.xml" Id="Ra09ed445c95b4d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concept: serious academic review with legal-gold accent and AI/product dark background.</a:t>
            </a:r>
          </a:p>
          <a:p xmlns:a="http://schemas.openxmlformats.org/drawingml/2006/main">
            <a:r>
              <a:t>Introduce the project as a design-thinking solution, not only as a coding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around trust and usability: fast answer plus visible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prove the project satisfies the subject's design-thinking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knowledge base quality determines answer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literature slide concise: existing systems are useful, but legal AI needs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phrase verdict, map, proof as the memory hook.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methodology as a pipeline: ingest, retrieve, reason, verify, present.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output slide summarizes what the user receives, before showing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for visual proof that the prototype exists and has working UI 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inviting questions about design thinking process, knowledge base, methodology, and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925f7b0434a2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3a33abdd4d34d0e" /><Relationship Type="http://schemas.openxmlformats.org/officeDocument/2006/relationships/slideLayout" Target="/ppt/slideLayouts/slideLayout2.xml" Id="R761435bf939f41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1435bf939f41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567e5a5454a3c" /><Relationship Type="http://schemas.openxmlformats.org/officeDocument/2006/relationships/notesSlide" Target="/ppt/notesSlides/notesSlide1.xml" Id="R6e56e5e2351a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f0a1be78d24089" /><Relationship Type="http://schemas.openxmlformats.org/officeDocument/2006/relationships/notesSlide" Target="/ppt/notesSlides/notesSlide2.xml" Id="R632c1cfc2c1145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954717d874af3" /><Relationship Type="http://schemas.openxmlformats.org/officeDocument/2006/relationships/notesSlide" Target="/ppt/notesSlides/notesSlide3.xml" Id="R8d710489590e45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e2bb6c754415b" /><Relationship Type="http://schemas.openxmlformats.org/officeDocument/2006/relationships/notesSlide" Target="/ppt/notesSlides/notesSlide4.xml" Id="Rfc8b3bfe6b5742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2fb77dfee8462b" /><Relationship Type="http://schemas.openxmlformats.org/officeDocument/2006/relationships/notesSlide" Target="/ppt/notesSlides/notesSlide5.xml" Id="R72277276b0804a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d40a2b859f4633" /><Relationship Type="http://schemas.openxmlformats.org/officeDocument/2006/relationships/notesSlide" Target="/ppt/notesSlides/notesSlide6.xml" Id="R0332612670fd4d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ee171d0917494b" /><Relationship Type="http://schemas.openxmlformats.org/officeDocument/2006/relationships/notesSlide" Target="/ppt/notesSlides/notesSlide7.xml" Id="R3b6118e40ea446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8991915d6444e7" /><Relationship Type="http://schemas.openxmlformats.org/officeDocument/2006/relationships/notesSlide" Target="/ppt/notesSlides/notesSlide8.xml" Id="R559bfcf9244945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4c28e3e90e4dbb" /><Relationship Type="http://schemas.openxmlformats.org/officeDocument/2006/relationships/image" Target="/ppt/media/image.png" Id="Rfedd9819a0ed4601" /><Relationship Type="http://schemas.openxmlformats.org/officeDocument/2006/relationships/image" Target="/ppt/media/image2.png" Id="R13ad57080bb548e4" /><Relationship Type="http://schemas.openxmlformats.org/officeDocument/2006/relationships/image" Target="/ppt/media/image3.png" Id="Rd621693c968945eb" /><Relationship Type="http://schemas.openxmlformats.org/officeDocument/2006/relationships/notesSlide" Target="/ppt/notesSlides/notesSlide9.xml" Id="R6a3a5d05279f45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9041ab5a184807" /><Relationship Type="http://schemas.openxmlformats.org/officeDocument/2006/relationships/notesSlide" Target="/ppt/notesSlides/notesSlide10.xml" Id="Rf4b3d007af0e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gold-ribbon">
            <a:extLst xmlns:a="http://schemas.openxmlformats.org/drawingml/2006/main">
              <a:ext uri="{FF2B5EF4-FFF2-40B4-BE49-F238E27FC236}">
                <a16:creationId xmlns:a16="http://schemas.microsoft.com/office/drawing/2014/main" id="{EF4E68B5-B3AF-4640-82EA-847B28EB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11715750" y="-1143000"/>
            <a:ext cx="4381500" cy="1257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1F"/>
          </a:solidFill>
          <a:ln xmlns:a="http://schemas.openxmlformats.org/drawingml/2006/main" w="0">
            <a:solidFill>
              <a:srgbClr val="D9991F"/>
            </a:solidFill>
          </a:ln>
        </p:spPr>
      </p:sp>
      <p:sp>
        <p:nvSpPr>
          <p:cNvPr id="2" name="cover-red-edge">
            <a:extLst xmlns:a="http://schemas.openxmlformats.org/drawingml/2006/main">
              <a:ext uri="{FF2B5EF4-FFF2-40B4-BE49-F238E27FC236}">
                <a16:creationId xmlns:a16="http://schemas.microsoft.com/office/drawing/2014/main" id="{A74162AF-3392-4C13-A8C1-A783359A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2667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2"/>
          </a:solidFill>
          <a:ln xmlns:a="http://schemas.openxmlformats.org/drawingml/2006/main" w="0">
            <a:solidFill>
              <a:srgbClr val="B84A42"/>
            </a:solidFill>
          </a:ln>
        </p:spPr>
      </p:sp>
      <p:sp>
        <p:nvSpPr>
          <p:cNvPr id="3" name="cover-blue-block">
            <a:extLst xmlns:a="http://schemas.openxmlformats.org/drawingml/2006/main">
              <a:ext uri="{FF2B5EF4-FFF2-40B4-BE49-F238E27FC236}">
                <a16:creationId xmlns:a16="http://schemas.microsoft.com/office/drawing/2014/main" id="{5796AD4C-2FE3-4212-8595-38F5FDC0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14382750" y="0"/>
            <a:ext cx="1428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</a:ln>
        </p:spPr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F84BE1AC-BD5E-419B-9B16-0086304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1619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9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991F"/>
                </a:solidFill>
                <a:latin typeface="Aptos"/>
                <a:ea typeface="Aptos"/>
                <a:cs typeface="Aptos"/>
              </a:rPr>
              <a:t>GE 23627 DESIGN THINKING AND INNOVATION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5E48D0-FBA4-44ED-B55E-F5FCDD58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04900"/>
            <a:ext cx="60960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7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7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OmniLegal AI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BF7181F-D419-4CB6-A764-9B90968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832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>
                <a:solidFill>
                  <a:srgbClr val="DDE5EA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DDE5EA"/>
                </a:solidFill>
                <a:latin typeface="Aptos"/>
                <a:ea typeface="Aptos"/>
                <a:cs typeface="Aptos"/>
              </a:rPr>
              <a:t>Design thinking semester review for a citation-grounded legal research assistant</a:t>
            </a:r>
          </a:p>
        </p:txBody>
      </p:sp>
      <p:sp>
        <p:nvSpPr>
          <p:cNvPr id="7" name="cover-presented">
            <a:extLst xmlns:a="http://schemas.openxmlformats.org/drawingml/2006/main">
              <a:ext uri="{FF2B5EF4-FFF2-40B4-BE49-F238E27FC236}">
                <a16:creationId xmlns:a16="http://schemas.microsoft.com/office/drawing/2014/main" id="{662C9A22-BAC6-4147-90BD-E89514ED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781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C9D1D9"/>
                </a:solidFill>
                <a:latin typeface="Aptos"/>
                <a:ea typeface="Aptos"/>
                <a:cs typeface="Aptos"/>
              </a:rPr>
              <a:t>Presented by</a:t>
            </a:r>
          </a:p>
        </p:txBody>
      </p:sp>
      <p:sp>
        <p:nvSpPr>
          <p:cNvPr id="8" name="cover-name-1">
            <a:extLst xmlns:a="http://schemas.openxmlformats.org/drawingml/2006/main">
              <a:ext uri="{FF2B5EF4-FFF2-40B4-BE49-F238E27FC236}">
                <a16:creationId xmlns:a16="http://schemas.microsoft.com/office/drawing/2014/main" id="{87A436BE-6BA1-41E7-A3ED-F11C7E3E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HEMAKUMAR U (231801054)</a:t>
            </a:r>
          </a:p>
        </p:txBody>
      </p:sp>
      <p:sp>
        <p:nvSpPr>
          <p:cNvPr id="9" name="cover-name-2">
            <a:extLst xmlns:a="http://schemas.openxmlformats.org/drawingml/2006/main">
              <a:ext uri="{FF2B5EF4-FFF2-40B4-BE49-F238E27FC236}">
                <a16:creationId xmlns:a16="http://schemas.microsoft.com/office/drawing/2014/main" id="{CB9C8642-78EE-47C1-8539-938F0CD4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VISWESWAR (231801902)</a:t>
            </a:r>
          </a:p>
        </p:txBody>
      </p:sp>
      <p:sp>
        <p:nvSpPr>
          <p:cNvPr id="10" name="cover-name-3">
            <a:extLst xmlns:a="http://schemas.openxmlformats.org/drawingml/2006/main">
              <a:ext uri="{FF2B5EF4-FFF2-40B4-BE49-F238E27FC236}">
                <a16:creationId xmlns:a16="http://schemas.microsoft.com/office/drawing/2014/main" id="{98B347EB-A266-45A7-A890-CAE3347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SANJAY N (231801149)</a:t>
            </a:r>
          </a:p>
        </p:txBody>
      </p:sp>
      <p:sp>
        <p:nvSpPr>
          <p:cNvPr id="11" name="tag-year">
            <a:extLst xmlns:a="http://schemas.openxmlformats.org/drawingml/2006/main">
              <a:ext uri="{FF2B5EF4-FFF2-40B4-BE49-F238E27FC236}">
                <a16:creationId xmlns:a16="http://schemas.microsoft.com/office/drawing/2014/main" id="{E770B718-AF6D-4B95-911C-EE6E136B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12944"/>
            <a:ext cx="2190750" cy="39624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22A34"/>
          </a:solidFill>
        </p:spPr>
      </p:sp>
      <p:sp>
        <p:nvSpPr>
          <p:cNvPr id="12" name="tag-year-text">
            <a:extLst xmlns:a="http://schemas.openxmlformats.org/drawingml/2006/main">
              <a:ext uri="{FF2B5EF4-FFF2-40B4-BE49-F238E27FC236}">
                <a16:creationId xmlns:a16="http://schemas.microsoft.com/office/drawing/2014/main" id="{FEBBAAB3-E99B-4874-B6BD-BD6B2161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184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III YEAR - B.Tech</a:t>
            </a:r>
          </a:p>
        </p:txBody>
      </p:sp>
      <p:sp>
        <p:nvSpPr>
          <p:cNvPr id="13" name="tag-dept">
            <a:extLst xmlns:a="http://schemas.openxmlformats.org/drawingml/2006/main">
              <a:ext uri="{FF2B5EF4-FFF2-40B4-BE49-F238E27FC236}">
                <a16:creationId xmlns:a16="http://schemas.microsoft.com/office/drawing/2014/main" id="{80A63057-A17F-4077-810C-3BF0178C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12944"/>
            <a:ext cx="4762500" cy="39624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22A34"/>
          </a:solidFill>
        </p:spPr>
      </p:sp>
      <p:sp>
        <p:nvSpPr>
          <p:cNvPr id="14" name="tag-dept-text">
            <a:extLst xmlns:a="http://schemas.openxmlformats.org/drawingml/2006/main">
              <a:ext uri="{FF2B5EF4-FFF2-40B4-BE49-F238E27FC236}">
                <a16:creationId xmlns:a16="http://schemas.microsoft.com/office/drawing/2014/main" id="{BC9B12F3-F43C-4B72-B9E0-1C1D35F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00650"/>
            <a:ext cx="441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Artificial Intelligence and Data Science</a:t>
            </a:r>
          </a:p>
        </p:txBody>
      </p:sp>
    </p:spTree>
    <p:extLst>
      <p:ext uri="{BB962C8B-B14F-4D97-AF65-F5344CB8AC3E}">
        <p14:creationId xmlns:p14="http://schemas.microsoft.com/office/powerpoint/2010/main" val="553023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left-field">
            <a:extLst xmlns:a="http://schemas.openxmlformats.org/drawingml/2006/main">
              <a:ext uri="{FF2B5EF4-FFF2-40B4-BE49-F238E27FC236}">
                <a16:creationId xmlns:a16="http://schemas.microsoft.com/office/drawing/2014/main" id="{34C1D8DB-2CFB-468C-99E1-60270415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4572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32D"/>
          </a:solidFill>
          <a:ln xmlns:a="http://schemas.openxmlformats.org/drawingml/2006/main" w="0">
            <a:solidFill>
              <a:srgbClr val="1B232D"/>
            </a:solidFill>
          </a:ln>
        </p:spPr>
      </p:sp>
      <p:sp>
        <p:nvSpPr>
          <p:cNvPr id="2" name="s2-big">
            <a:extLst xmlns:a="http://schemas.openxmlformats.org/drawingml/2006/main">
              <a:ext uri="{FF2B5EF4-FFF2-40B4-BE49-F238E27FC236}">
                <a16:creationId xmlns:a16="http://schemas.microsoft.com/office/drawing/2014/main" id="{73EF2C85-8CDD-4FC8-9128-7670A6AF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3429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54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3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59CAB5FD-C3B2-4266-BCAC-871C6A6C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42900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D7DEE4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D7DEE4"/>
                </a:solidFill>
                <a:latin typeface="Aptos"/>
                <a:ea typeface="Aptos"/>
                <a:cs typeface="Aptos"/>
              </a:rPr>
              <a:t>Legal research is slow, complex, and difficult to trust when citations are hidden or unsupported.</a:t>
            </a:r>
          </a:p>
        </p:txBody>
      </p:sp>
      <p:sp>
        <p:nvSpPr>
          <p:cNvPr id="4" name="mark-Problem statement">
            <a:extLst xmlns:a="http://schemas.openxmlformats.org/drawingml/2006/main">
              <a:ext uri="{FF2B5EF4-FFF2-40B4-BE49-F238E27FC236}">
                <a16:creationId xmlns:a16="http://schemas.microsoft.com/office/drawing/2014/main" id="{325270E4-3A9E-491B-BCE9-8908D8DB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239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2"/>
          </a:solidFill>
        </p:spPr>
      </p:sp>
      <p:sp>
        <p:nvSpPr>
          <p:cNvPr id="5" name="kicker-text-Problem statement">
            <a:extLst xmlns:a="http://schemas.openxmlformats.org/drawingml/2006/main">
              <a:ext uri="{FF2B5EF4-FFF2-40B4-BE49-F238E27FC236}">
                <a16:creationId xmlns:a16="http://schemas.microsoft.com/office/drawing/2014/main" id="{9038D9EC-E92F-44DC-A3FC-F030D090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048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4A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4A42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s2-slide-title">
            <a:extLst xmlns:a="http://schemas.openxmlformats.org/drawingml/2006/main">
              <a:ext uri="{FF2B5EF4-FFF2-40B4-BE49-F238E27FC236}">
                <a16:creationId xmlns:a16="http://schemas.microsoft.com/office/drawing/2014/main" id="{52174241-2F3E-4261-8DC4-7BD1870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047750"/>
            <a:ext cx="118872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101419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01419"/>
                </a:solidFill>
                <a:latin typeface="Georgia"/>
                <a:ea typeface="Georgia"/>
                <a:cs typeface="Georgia"/>
              </a:rPr>
              <a:t>Users need fast legal answers, but legal AI must be source-grounded</a:t>
            </a:r>
          </a:p>
        </p:txBody>
      </p:sp>
      <p:sp>
        <p:nvSpPr>
          <p:cNvPr id="7" name="s2-slide-subtitle">
            <a:extLst xmlns:a="http://schemas.openxmlformats.org/drawingml/2006/main">
              <a:ext uri="{FF2B5EF4-FFF2-40B4-BE49-F238E27FC236}">
                <a16:creationId xmlns:a16="http://schemas.microsoft.com/office/drawing/2014/main" id="{F66A37EF-B35C-4F7D-9BF1-0A35DCC3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078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69727D"/>
                </a:solidFill>
                <a:latin typeface="Aptos"/>
                <a:ea typeface="Aptos"/>
                <a:cs typeface="Aptos"/>
              </a:rPr>
              <a:t>Students, researchers, MUN delegates, and non-law users need understandable outputs with verifiable sources.</a:t>
            </a:r>
          </a:p>
        </p:txBody>
      </p:sp>
      <p:sp>
        <p:nvSpPr>
          <p:cNvPr id="8" name="s2-dot-0">
            <a:extLst xmlns:a="http://schemas.openxmlformats.org/drawingml/2006/main">
              <a:ext uri="{FF2B5EF4-FFF2-40B4-BE49-F238E27FC236}">
                <a16:creationId xmlns:a16="http://schemas.microsoft.com/office/drawing/2014/main" id="{A169855F-66C4-4965-9650-B5BDE71E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9" name="s2-bullet-text-0">
            <a:extLst xmlns:a="http://schemas.openxmlformats.org/drawingml/2006/main">
              <a:ext uri="{FF2B5EF4-FFF2-40B4-BE49-F238E27FC236}">
                <a16:creationId xmlns:a16="http://schemas.microsoft.com/office/drawing/2014/main" id="{959226FC-F6A2-4587-8178-AFDEC179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1213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B232D"/>
                </a:solidFill>
                <a:latin typeface="Aptos"/>
                <a:ea typeface="Aptos"/>
                <a:cs typeface="Aptos"/>
              </a:rPr>
              <a:t>Legal documents are long and difficult to scan quickly.</a:t>
            </a:r>
          </a:p>
        </p:txBody>
      </p:sp>
      <p:sp>
        <p:nvSpPr>
          <p:cNvPr id="10" name="s2-dot-1">
            <a:extLst xmlns:a="http://schemas.openxmlformats.org/drawingml/2006/main">
              <a:ext uri="{FF2B5EF4-FFF2-40B4-BE49-F238E27FC236}">
                <a16:creationId xmlns:a16="http://schemas.microsoft.com/office/drawing/2014/main" id="{EC7F6851-43FD-4EFF-8F42-66DF938D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11" name="s2-bullet-text-1">
            <a:extLst xmlns:a="http://schemas.openxmlformats.org/drawingml/2006/main">
              <a:ext uri="{FF2B5EF4-FFF2-40B4-BE49-F238E27FC236}">
                <a16:creationId xmlns:a16="http://schemas.microsoft.com/office/drawing/2014/main" id="{1EB587D8-FF16-4A2C-A54B-0321C678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0450"/>
            <a:ext cx="1213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B232D"/>
                </a:solidFill>
                <a:latin typeface="Aptos"/>
                <a:ea typeface="Aptos"/>
                <a:cs typeface="Aptos"/>
              </a:rPr>
              <a:t>Different jurisdictions may give different legal answers.</a:t>
            </a:r>
          </a:p>
        </p:txBody>
      </p:sp>
      <p:sp>
        <p:nvSpPr>
          <p:cNvPr id="12" name="s2-dot-2">
            <a:extLst xmlns:a="http://schemas.openxmlformats.org/drawingml/2006/main">
              <a:ext uri="{FF2B5EF4-FFF2-40B4-BE49-F238E27FC236}">
                <a16:creationId xmlns:a16="http://schemas.microsoft.com/office/drawing/2014/main" id="{43EF974A-3F7C-4768-BB15-59B728F4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95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13" name="s2-bullet-text-2">
            <a:extLst xmlns:a="http://schemas.openxmlformats.org/drawingml/2006/main">
              <a:ext uri="{FF2B5EF4-FFF2-40B4-BE49-F238E27FC236}">
                <a16:creationId xmlns:a16="http://schemas.microsoft.com/office/drawing/2014/main" id="{04543B7E-71C6-45F1-8785-0DA38F53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95750"/>
            <a:ext cx="1213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B232D"/>
                </a:solidFill>
                <a:latin typeface="Aptos"/>
                <a:ea typeface="Aptos"/>
                <a:cs typeface="Aptos"/>
              </a:rPr>
              <a:t>General AI tools can hallucinate cases, statutes, or citation details.</a:t>
            </a:r>
          </a:p>
        </p:txBody>
      </p:sp>
      <p:sp>
        <p:nvSpPr>
          <p:cNvPr id="14" name="s2-dot-3">
            <a:extLst xmlns:a="http://schemas.openxmlformats.org/drawingml/2006/main">
              <a:ext uri="{FF2B5EF4-FFF2-40B4-BE49-F238E27FC236}">
                <a16:creationId xmlns:a16="http://schemas.microsoft.com/office/drawing/2014/main" id="{14CD9A4D-86AE-4A3D-8F9B-6886FC8F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91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15" name="s2-bullet-text-3">
            <a:extLst xmlns:a="http://schemas.openxmlformats.org/drawingml/2006/main">
              <a:ext uri="{FF2B5EF4-FFF2-40B4-BE49-F238E27FC236}">
                <a16:creationId xmlns:a16="http://schemas.microsoft.com/office/drawing/2014/main" id="{BFCDEEC0-F9F9-4316-BD6E-64A4D02F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91050"/>
            <a:ext cx="1213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B232D"/>
                </a:solidFill>
                <a:latin typeface="Aptos"/>
                <a:ea typeface="Aptos"/>
                <a:cs typeface="Aptos"/>
              </a:rPr>
              <a:t>Users need different explanation levels: layman, student, researcher, and debate-focused.</a:t>
            </a:r>
          </a:p>
        </p:txBody>
      </p:sp>
      <p:sp>
        <p:nvSpPr>
          <p:cNvPr id="16" name="s2-dot-4">
            <a:extLst xmlns:a="http://schemas.openxmlformats.org/drawingml/2006/main">
              <a:ext uri="{FF2B5EF4-FFF2-40B4-BE49-F238E27FC236}">
                <a16:creationId xmlns:a16="http://schemas.microsoft.com/office/drawing/2014/main" id="{17462B92-9434-4656-AD2B-4FE2FD31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86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17" name="s2-bullet-text-4">
            <a:extLst xmlns:a="http://schemas.openxmlformats.org/drawingml/2006/main">
              <a:ext uri="{FF2B5EF4-FFF2-40B4-BE49-F238E27FC236}">
                <a16:creationId xmlns:a16="http://schemas.microsoft.com/office/drawing/2014/main" id="{1B04035E-92F6-4865-91CB-AF2E901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86350"/>
            <a:ext cx="12134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B232D"/>
                </a:solidFill>
                <a:latin typeface="Aptos"/>
                <a:ea typeface="Aptos"/>
                <a:cs typeface="Aptos"/>
              </a:rPr>
              <a:t>A useful tool must show proof, not only polished text.</a:t>
            </a:r>
          </a:p>
        </p:txBody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CAA126D4-7CCD-4424-9902-DC480A03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9727D"/>
                </a:solidFill>
                <a:latin typeface="Aptos"/>
                <a:ea typeface="Aptos"/>
                <a:cs typeface="Aptos"/>
              </a:rPr>
              <a:t>GE 23627 Design Thinking and Innovation | OmniLegal AI</a:t>
            </a:r>
          </a:p>
        </p:txBody>
      </p:sp>
      <p:sp>
        <p:nvSpPr>
          <p:cNvPr id="19" name="footer-no-2">
            <a:extLst xmlns:a="http://schemas.openxmlformats.org/drawingml/2006/main">
              <a:ext uri="{FF2B5EF4-FFF2-40B4-BE49-F238E27FC236}">
                <a16:creationId xmlns:a16="http://schemas.microsoft.com/office/drawing/2014/main" id="{55C219F6-09D3-4113-BDDC-363103C9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92773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972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607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op">
            <a:extLst xmlns:a="http://schemas.openxmlformats.org/drawingml/2006/main">
              <a:ext uri="{FF2B5EF4-FFF2-40B4-BE49-F238E27FC236}">
                <a16:creationId xmlns:a16="http://schemas.microsoft.com/office/drawing/2014/main" id="{587D6E9B-00D7-4CA3-9B8F-C8CD92C7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1F"/>
          </a:solidFill>
          <a:ln xmlns:a="http://schemas.openxmlformats.org/drawingml/2006/main" w="0">
            <a:solidFill>
              <a:srgbClr val="D9991F"/>
            </a:solidFill>
          </a:ln>
        </p:spPr>
      </p:sp>
      <p:sp>
        <p:nvSpPr>
          <p:cNvPr id="2" name="mark-Design thinking approach">
            <a:extLst xmlns:a="http://schemas.openxmlformats.org/drawingml/2006/main">
              <a:ext uri="{FF2B5EF4-FFF2-40B4-BE49-F238E27FC236}">
                <a16:creationId xmlns:a16="http://schemas.microsoft.com/office/drawing/2014/main" id="{58B035C9-21FB-4023-A69C-7EA0C230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3" name="kicker-text-Design thinking approach">
            <a:extLst xmlns:a="http://schemas.openxmlformats.org/drawingml/2006/main">
              <a:ext uri="{FF2B5EF4-FFF2-40B4-BE49-F238E27FC236}">
                <a16:creationId xmlns:a16="http://schemas.microsoft.com/office/drawing/2014/main" id="{544482C6-7170-4C49-A97B-0B2FDFC2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048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9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91F"/>
                </a:solidFill>
                <a:latin typeface="Aptos"/>
                <a:ea typeface="Aptos"/>
                <a:cs typeface="Aptos"/>
              </a:rPr>
              <a:t>DESIGN THINKING APPROACH</a:t>
            </a:r>
          </a:p>
        </p:txBody>
      </p:sp>
      <p:sp>
        <p:nvSpPr>
          <p:cNvPr id="4" name="s3-slide-title">
            <a:extLst xmlns:a="http://schemas.openxmlformats.org/drawingml/2006/main">
              <a:ext uri="{FF2B5EF4-FFF2-40B4-BE49-F238E27FC236}">
                <a16:creationId xmlns:a16="http://schemas.microsoft.com/office/drawing/2014/main" id="{B2897A07-522C-4197-8BFF-DD72C36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21539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101419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01419"/>
                </a:solidFill>
                <a:latin typeface="Georgia"/>
                <a:ea typeface="Georgia"/>
                <a:cs typeface="Georgia"/>
              </a:rPr>
              <a:t>Human-centered design turned the project into task-based workflows</a:t>
            </a:r>
          </a:p>
        </p:txBody>
      </p:sp>
      <p:sp>
        <p:nvSpPr>
          <p:cNvPr id="5" name="s3-slide-subtitle">
            <a:extLst xmlns:a="http://schemas.openxmlformats.org/drawingml/2006/main">
              <a:ext uri="{FF2B5EF4-FFF2-40B4-BE49-F238E27FC236}">
                <a16:creationId xmlns:a16="http://schemas.microsoft.com/office/drawing/2014/main" id="{1B8C597B-E6BD-4DE1-9BCF-83E3EFE4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1201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69727D"/>
                </a:solidFill>
                <a:latin typeface="Aptos"/>
                <a:ea typeface="Aptos"/>
                <a:cs typeface="Aptos"/>
              </a:rPr>
              <a:t>The project follows empathize, define, ideate, prototype, and test rather than starting directly from model selection.</a:t>
            </a:r>
          </a:p>
        </p:txBody>
      </p:sp>
      <p:sp>
        <p:nvSpPr>
          <p:cNvPr id="6" name="step-stage-0">
            <a:extLst xmlns:a="http://schemas.openxmlformats.org/drawingml/2006/main">
              <a:ext uri="{FF2B5EF4-FFF2-40B4-BE49-F238E27FC236}">
                <a16:creationId xmlns:a16="http://schemas.microsoft.com/office/drawing/2014/main" id="{50BD8C54-A61D-47B6-B40E-80AF8BE3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4065"/>
            <a:ext cx="313944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step-title-stage-0">
            <a:extLst xmlns:a="http://schemas.openxmlformats.org/drawingml/2006/main">
              <a:ext uri="{FF2B5EF4-FFF2-40B4-BE49-F238E27FC236}">
                <a16:creationId xmlns:a16="http://schemas.microsoft.com/office/drawing/2014/main" id="{EED9764E-9D69-45BA-BD48-BD60AFA9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72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A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84A42"/>
                </a:solidFill>
                <a:latin typeface="Aptos"/>
                <a:ea typeface="Aptos"/>
                <a:cs typeface="Aptos"/>
              </a:rPr>
              <a:t>1. Empathize</a:t>
            </a:r>
          </a:p>
        </p:txBody>
      </p:sp>
      <p:sp>
        <p:nvSpPr>
          <p:cNvPr id="8" name="step-body-stage-0">
            <a:extLst xmlns:a="http://schemas.openxmlformats.org/drawingml/2006/main">
              <a:ext uri="{FF2B5EF4-FFF2-40B4-BE49-F238E27FC236}">
                <a16:creationId xmlns:a16="http://schemas.microsoft.com/office/drawing/2014/main" id="{FE40C44E-B8BD-4B97-ADCB-483A677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Students and MUN users struggle with long documents and uncertain AI answers.</a:t>
            </a:r>
          </a:p>
        </p:txBody>
      </p:sp>
      <p:sp>
        <p:nvSpPr>
          <p:cNvPr id="9" name="step-stage-1">
            <a:extLst xmlns:a="http://schemas.openxmlformats.org/drawingml/2006/main">
              <a:ext uri="{FF2B5EF4-FFF2-40B4-BE49-F238E27FC236}">
                <a16:creationId xmlns:a16="http://schemas.microsoft.com/office/drawing/2014/main" id="{23425DD6-B866-4D14-9CA2-586844E5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340" y="3414065"/>
            <a:ext cx="313944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step-title-stage-1">
            <a:extLst xmlns:a="http://schemas.openxmlformats.org/drawingml/2006/main">
              <a:ext uri="{FF2B5EF4-FFF2-40B4-BE49-F238E27FC236}">
                <a16:creationId xmlns:a16="http://schemas.microsoft.com/office/drawing/2014/main" id="{EF28A31E-A3F2-40FD-B046-2D529656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272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99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991F"/>
                </a:solidFill>
                <a:latin typeface="Aptos"/>
                <a:ea typeface="Aptos"/>
                <a:cs typeface="Aptos"/>
              </a:rPr>
              <a:t>2. Define</a:t>
            </a:r>
          </a:p>
        </p:txBody>
      </p:sp>
      <p:sp>
        <p:nvSpPr>
          <p:cNvPr id="11" name="step-body-stage-1">
            <a:extLst xmlns:a="http://schemas.openxmlformats.org/drawingml/2006/main">
              <a:ext uri="{FF2B5EF4-FFF2-40B4-BE49-F238E27FC236}">
                <a16:creationId xmlns:a16="http://schemas.microsoft.com/office/drawing/2014/main" id="{EC40E7E9-78C3-4B8D-9BA6-7931EB0F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27241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How might we create fast, understandable, citation-grounded legal research?</a:t>
            </a:r>
          </a:p>
        </p:txBody>
      </p:sp>
      <p:sp>
        <p:nvSpPr>
          <p:cNvPr id="12" name="step-stage-2">
            <a:extLst xmlns:a="http://schemas.openxmlformats.org/drawingml/2006/main">
              <a:ext uri="{FF2B5EF4-FFF2-40B4-BE49-F238E27FC236}">
                <a16:creationId xmlns:a16="http://schemas.microsoft.com/office/drawing/2014/main" id="{34EFFE07-C5E9-46A6-AC00-04999DAD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280" y="3414065"/>
            <a:ext cx="313944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step-title-stage-2">
            <a:extLst xmlns:a="http://schemas.openxmlformats.org/drawingml/2006/main">
              <a:ext uri="{FF2B5EF4-FFF2-40B4-BE49-F238E27FC236}">
                <a16:creationId xmlns:a16="http://schemas.microsoft.com/office/drawing/2014/main" id="{CA7E4531-FE68-4E4E-934A-05386647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81400"/>
            <a:ext cx="272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3. Ideate</a:t>
            </a:r>
          </a:p>
        </p:txBody>
      </p:sp>
      <p:sp>
        <p:nvSpPr>
          <p:cNvPr id="14" name="step-body-stage-2">
            <a:extLst xmlns:a="http://schemas.openxmlformats.org/drawingml/2006/main">
              <a:ext uri="{FF2B5EF4-FFF2-40B4-BE49-F238E27FC236}">
                <a16:creationId xmlns:a16="http://schemas.microsoft.com/office/drawing/2014/main" id="{52AD0508-6460-43DD-9709-6D878ADD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27241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Research Console, Citation Forensics, Conflict Atlas, Comparative IRAC, Advocacy Studio.</a:t>
            </a:r>
          </a:p>
        </p:txBody>
      </p:sp>
      <p:sp>
        <p:nvSpPr>
          <p:cNvPr id="15" name="step-stage-3">
            <a:extLst xmlns:a="http://schemas.openxmlformats.org/drawingml/2006/main">
              <a:ext uri="{FF2B5EF4-FFF2-40B4-BE49-F238E27FC236}">
                <a16:creationId xmlns:a16="http://schemas.microsoft.com/office/drawing/2014/main" id="{88AE81D6-6C00-4F20-A44C-A76247D3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414065"/>
            <a:ext cx="313944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step-title-stage-3">
            <a:extLst xmlns:a="http://schemas.openxmlformats.org/drawingml/2006/main">
              <a:ext uri="{FF2B5EF4-FFF2-40B4-BE49-F238E27FC236}">
                <a16:creationId xmlns:a16="http://schemas.microsoft.com/office/drawing/2014/main" id="{255028AA-2711-488F-B89F-8E56AB8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81400"/>
            <a:ext cx="272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8A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8A55"/>
                </a:solidFill>
                <a:latin typeface="Aptos"/>
                <a:ea typeface="Aptos"/>
                <a:cs typeface="Aptos"/>
              </a:rPr>
              <a:t>4. Prototype</a:t>
            </a:r>
          </a:p>
        </p:txBody>
      </p:sp>
      <p:sp>
        <p:nvSpPr>
          <p:cNvPr id="17" name="step-body-stage-3">
            <a:extLst xmlns:a="http://schemas.openxmlformats.org/drawingml/2006/main">
              <a:ext uri="{FF2B5EF4-FFF2-40B4-BE49-F238E27FC236}">
                <a16:creationId xmlns:a16="http://schemas.microsoft.com/office/drawing/2014/main" id="{AA52316E-E2FA-42D8-B231-CAF1DD15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90525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React UI, Chainlit chat, FastAPI backend, RAG pipeline, and citation verifier.</a:t>
            </a:r>
          </a:p>
        </p:txBody>
      </p:sp>
      <p:sp>
        <p:nvSpPr>
          <p:cNvPr id="18" name="step-stage-4">
            <a:extLst xmlns:a="http://schemas.openxmlformats.org/drawingml/2006/main">
              <a:ext uri="{FF2B5EF4-FFF2-40B4-BE49-F238E27FC236}">
                <a16:creationId xmlns:a16="http://schemas.microsoft.com/office/drawing/2014/main" id="{E58ABD9D-8862-486F-9079-A350FA30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3414065"/>
            <a:ext cx="313944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step-title-stage-4">
            <a:extLst xmlns:a="http://schemas.openxmlformats.org/drawingml/2006/main">
              <a:ext uri="{FF2B5EF4-FFF2-40B4-BE49-F238E27FC236}">
                <a16:creationId xmlns:a16="http://schemas.microsoft.com/office/drawing/2014/main" id="{52D8FA2B-76EA-48F1-9676-FE99B671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3581400"/>
            <a:ext cx="272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5. Test</a:t>
            </a:r>
          </a:p>
        </p:txBody>
      </p:sp>
      <p:sp>
        <p:nvSpPr>
          <p:cNvPr id="20" name="step-body-stage-4">
            <a:extLst xmlns:a="http://schemas.openxmlformats.org/drawingml/2006/main">
              <a:ext uri="{FF2B5EF4-FFF2-40B4-BE49-F238E27FC236}">
                <a16:creationId xmlns:a16="http://schemas.microsoft.com/office/drawing/2014/main" id="{C3787F40-F403-4A6D-8DD5-98A3B1D5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390525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Smoke tests, citation checks, UI walkthroughs, and design feedback.</a:t>
            </a:r>
          </a:p>
        </p:txBody>
      </p:sp>
      <p:sp>
        <p:nvSpPr>
          <p:cNvPr id="21" name="s3-insight">
            <a:extLst xmlns:a="http://schemas.openxmlformats.org/drawingml/2006/main">
              <a:ext uri="{FF2B5EF4-FFF2-40B4-BE49-F238E27FC236}">
                <a16:creationId xmlns:a16="http://schemas.microsoft.com/office/drawing/2014/main" id="{5C95E780-312E-4D39-A358-E91E68AD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81165"/>
            <a:ext cx="9223058" cy="2228545"/>
          </a:xfrm>
          <a:prstGeom xmlns:a="http://schemas.openxmlformats.org/drawingml/2006/main" prst="roundRect">
            <a:avLst>
              <a:gd name="adj" fmla="val 512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s3-insight-title">
            <a:extLst xmlns:a="http://schemas.openxmlformats.org/drawingml/2006/main">
              <a:ext uri="{FF2B5EF4-FFF2-40B4-BE49-F238E27FC236}">
                <a16:creationId xmlns:a16="http://schemas.microsoft.com/office/drawing/2014/main" id="{30E71580-2436-4B66-A088-8C4E462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162800"/>
            <a:ext cx="8648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84A42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B84A42"/>
                </a:solidFill>
                <a:latin typeface="Georgia"/>
                <a:ea typeface="Georgia"/>
                <a:cs typeface="Georgia"/>
              </a:rPr>
              <a:t>Key design insight</a:t>
            </a:r>
          </a:p>
        </p:txBody>
      </p:sp>
      <p:sp>
        <p:nvSpPr>
          <p:cNvPr id="23" name="s3-insight-body">
            <a:extLst xmlns:a="http://schemas.openxmlformats.org/drawingml/2006/main">
              <a:ext uri="{FF2B5EF4-FFF2-40B4-BE49-F238E27FC236}">
                <a16:creationId xmlns:a16="http://schemas.microsoft.com/office/drawing/2014/main" id="{C7B4EE4F-DB77-4A81-B2FD-1FAF321D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677150"/>
            <a:ext cx="8648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1B232D"/>
                </a:solidFill>
                <a:latin typeface="Aptos"/>
                <a:ea typeface="Aptos"/>
                <a:cs typeface="Aptos"/>
              </a:rPr>
              <a:t>The user does not only need an answer. The user needs confidence that the answer came from a real source and is written at the right level.</a:t>
            </a:r>
          </a:p>
        </p:txBody>
      </p:sp>
      <p:sp>
        <p:nvSpPr>
          <p:cNvPr id="24" name="s3-outcomes-dot-0">
            <a:extLst xmlns:a="http://schemas.openxmlformats.org/drawingml/2006/main">
              <a:ext uri="{FF2B5EF4-FFF2-40B4-BE49-F238E27FC236}">
                <a16:creationId xmlns:a16="http://schemas.microsoft.com/office/drawing/2014/main" id="{E8C8F2AB-2096-45CE-8D9B-52EEC902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877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25" name="s3-outcomes-bullet-text-0">
            <a:extLst xmlns:a="http://schemas.openxmlformats.org/drawingml/2006/main">
              <a:ext uri="{FF2B5EF4-FFF2-40B4-BE49-F238E27FC236}">
                <a16:creationId xmlns:a16="http://schemas.microsoft.com/office/drawing/2014/main" id="{E94DF248-BD18-4D5D-A2C4-35FFA9CF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877050"/>
            <a:ext cx="6572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B232D"/>
                </a:solidFill>
                <a:latin typeface="Aptos"/>
                <a:ea typeface="Aptos"/>
                <a:cs typeface="Aptos"/>
              </a:rPr>
              <a:t>Personas for different users</a:t>
            </a:r>
          </a:p>
        </p:txBody>
      </p:sp>
      <p:sp>
        <p:nvSpPr>
          <p:cNvPr id="26" name="s3-outcomes-dot-1">
            <a:extLst xmlns:a="http://schemas.openxmlformats.org/drawingml/2006/main">
              <a:ext uri="{FF2B5EF4-FFF2-40B4-BE49-F238E27FC236}">
                <a16:creationId xmlns:a16="http://schemas.microsoft.com/office/drawing/2014/main" id="{5BA15749-D65C-474C-8F9D-282D00B8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353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27" name="s3-outcomes-bullet-text-1">
            <a:extLst xmlns:a="http://schemas.openxmlformats.org/drawingml/2006/main">
              <a:ext uri="{FF2B5EF4-FFF2-40B4-BE49-F238E27FC236}">
                <a16:creationId xmlns:a16="http://schemas.microsoft.com/office/drawing/2014/main" id="{B77D6177-1E27-4313-8416-639243BA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353300"/>
            <a:ext cx="6572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B232D"/>
                </a:solidFill>
                <a:latin typeface="Aptos"/>
                <a:ea typeface="Aptos"/>
                <a:cs typeface="Aptos"/>
              </a:rPr>
              <a:t>Visible citation trail</a:t>
            </a:r>
          </a:p>
        </p:txBody>
      </p:sp>
      <p:sp>
        <p:nvSpPr>
          <p:cNvPr id="28" name="s3-outcomes-dot-2">
            <a:extLst xmlns:a="http://schemas.openxmlformats.org/drawingml/2006/main">
              <a:ext uri="{FF2B5EF4-FFF2-40B4-BE49-F238E27FC236}">
                <a16:creationId xmlns:a16="http://schemas.microsoft.com/office/drawing/2014/main" id="{E0FB4CED-1DA6-40C8-8FD6-CB46EE75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829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29" name="s3-outcomes-bullet-text-2">
            <a:extLst xmlns:a="http://schemas.openxmlformats.org/drawingml/2006/main">
              <a:ext uri="{FF2B5EF4-FFF2-40B4-BE49-F238E27FC236}">
                <a16:creationId xmlns:a16="http://schemas.microsoft.com/office/drawing/2014/main" id="{0FFC18C2-5560-41DB-A35A-25AB8014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829550"/>
            <a:ext cx="6572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B232D"/>
                </a:solidFill>
                <a:latin typeface="Aptos"/>
                <a:ea typeface="Aptos"/>
                <a:cs typeface="Aptos"/>
              </a:rPr>
              <a:t>Source-backed workflows</a:t>
            </a:r>
          </a:p>
        </p:txBody>
      </p:sp>
      <p:sp>
        <p:nvSpPr>
          <p:cNvPr id="30" name="s3-outcomes-dot-3">
            <a:extLst xmlns:a="http://schemas.openxmlformats.org/drawingml/2006/main">
              <a:ext uri="{FF2B5EF4-FFF2-40B4-BE49-F238E27FC236}">
                <a16:creationId xmlns:a16="http://schemas.microsoft.com/office/drawing/2014/main" id="{9CF39076-8CFE-4078-91C9-009D9FFD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8305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31" name="s3-outcomes-bullet-text-3">
            <a:extLst xmlns:a="http://schemas.openxmlformats.org/drawingml/2006/main">
              <a:ext uri="{FF2B5EF4-FFF2-40B4-BE49-F238E27FC236}">
                <a16:creationId xmlns:a16="http://schemas.microsoft.com/office/drawing/2014/main" id="{2067E87B-1501-47F1-9539-8CE14361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8305800"/>
            <a:ext cx="6572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B232D"/>
                </a:solidFill>
                <a:latin typeface="Aptos"/>
                <a:ea typeface="Aptos"/>
                <a:cs typeface="Aptos"/>
              </a:rPr>
              <a:t>Testing and iteration plan</a:t>
            </a:r>
          </a:p>
        </p:txBody>
      </p:sp>
      <p:sp>
        <p:nvSpPr>
          <p:cNvPr id="32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51797E8F-168C-4F1C-9C57-CA0069F9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0"/>
            <a:ext cx="1584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9727D"/>
                </a:solidFill>
                <a:latin typeface="Aptos"/>
                <a:ea typeface="Aptos"/>
                <a:cs typeface="Aptos"/>
              </a:rPr>
              <a:t>GE 23627 Design Thinking and Innovation | OmniLegal AI</a:t>
            </a:r>
          </a:p>
        </p:txBody>
      </p:sp>
      <p:sp>
        <p:nvSpPr>
          <p:cNvPr id="33" name="footer-no-3">
            <a:extLst xmlns:a="http://schemas.openxmlformats.org/drawingml/2006/main">
              <a:ext uri="{FF2B5EF4-FFF2-40B4-BE49-F238E27FC236}">
                <a16:creationId xmlns:a16="http://schemas.microsoft.com/office/drawing/2014/main" id="{ECA07C6A-D580-4BBF-BADE-89705C37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4297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972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3693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rk-Knowledge base used">
            <a:extLst xmlns:a="http://schemas.openxmlformats.org/drawingml/2006/main">
              <a:ext uri="{FF2B5EF4-FFF2-40B4-BE49-F238E27FC236}">
                <a16:creationId xmlns:a16="http://schemas.microsoft.com/office/drawing/2014/main" id="{5CD1941D-0E55-46E2-B5AC-AAB1020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</p:spPr>
      </p:sp>
      <p:sp>
        <p:nvSpPr>
          <p:cNvPr id="2" name="kicker-text-Knowledge base used">
            <a:extLst xmlns:a="http://schemas.openxmlformats.org/drawingml/2006/main">
              <a:ext uri="{FF2B5EF4-FFF2-40B4-BE49-F238E27FC236}">
                <a16:creationId xmlns:a16="http://schemas.microsoft.com/office/drawing/2014/main" id="{5BBBFE95-797A-4D97-A1A3-7EA3549D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048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KNOWLEDGE BASE USED</a:t>
            </a:r>
          </a:p>
        </p:txBody>
      </p:sp>
      <p:sp>
        <p:nvSpPr>
          <p:cNvPr id="3" name="s4-slide-title">
            <a:extLst xmlns:a="http://schemas.openxmlformats.org/drawingml/2006/main">
              <a:ext uri="{FF2B5EF4-FFF2-40B4-BE49-F238E27FC236}">
                <a16:creationId xmlns:a16="http://schemas.microsoft.com/office/drawing/2014/main" id="{A0A00582-C76C-4981-8721-5FBEB96E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05918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101419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01419"/>
                </a:solidFill>
                <a:latin typeface="Georgia"/>
                <a:ea typeface="Georgia"/>
                <a:cs typeface="Georgia"/>
              </a:rPr>
              <a:t>The system is grounded in legal texts, datasets, and evaluation registries</a:t>
            </a:r>
          </a:p>
        </p:txBody>
      </p:sp>
      <p:sp>
        <p:nvSpPr>
          <p:cNvPr id="4" name="s4-slide-subtitle">
            <a:extLst xmlns:a="http://schemas.openxmlformats.org/drawingml/2006/main">
              <a:ext uri="{FF2B5EF4-FFF2-40B4-BE49-F238E27FC236}">
                <a16:creationId xmlns:a16="http://schemas.microsoft.com/office/drawing/2014/main" id="{7234F743-9090-4C49-A43E-D9600AB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019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69727D"/>
                </a:solidFill>
                <a:latin typeface="Aptos"/>
                <a:ea typeface="Aptos"/>
                <a:cs typeface="Aptos"/>
              </a:rPr>
              <a:t>The knowledge base combines local law texts, curated datasets, case-law registries, and manual gold sets.</a:t>
            </a:r>
          </a:p>
        </p:txBody>
      </p:sp>
      <p:sp>
        <p:nvSpPr>
          <p:cNvPr id="5" name="cell-s4h-0">
            <a:extLst xmlns:a="http://schemas.openxmlformats.org/drawingml/2006/main">
              <a:ext uri="{FF2B5EF4-FFF2-40B4-BE49-F238E27FC236}">
                <a16:creationId xmlns:a16="http://schemas.microsoft.com/office/drawing/2014/main" id="{B518A0DA-0765-4C45-9AAF-857BE431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782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</p:spPr>
      </p:sp>
      <p:sp>
        <p:nvSpPr>
          <p:cNvPr id="6" name="cell-text-s4h-0">
            <a:extLst xmlns:a="http://schemas.openxmlformats.org/drawingml/2006/main">
              <a:ext uri="{FF2B5EF4-FFF2-40B4-BE49-F238E27FC236}">
                <a16:creationId xmlns:a16="http://schemas.microsoft.com/office/drawing/2014/main" id="{21AB8657-9239-446A-BC9D-26AC30A3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group</a:t>
            </a:r>
          </a:p>
        </p:txBody>
      </p:sp>
      <p:sp>
        <p:nvSpPr>
          <p:cNvPr id="7" name="cell-s4h-1">
            <a:extLst xmlns:a="http://schemas.openxmlformats.org/drawingml/2006/main">
              <a:ext uri="{FF2B5EF4-FFF2-40B4-BE49-F238E27FC236}">
                <a16:creationId xmlns:a16="http://schemas.microsoft.com/office/drawing/2014/main" id="{407D1FBB-E931-4837-9500-E63A1C05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78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</p:spPr>
      </p:sp>
      <p:sp>
        <p:nvSpPr>
          <p:cNvPr id="8" name="cell-text-s4h-1">
            <a:extLst xmlns:a="http://schemas.openxmlformats.org/drawingml/2006/main">
              <a:ext uri="{FF2B5EF4-FFF2-40B4-BE49-F238E27FC236}">
                <a16:creationId xmlns:a16="http://schemas.microsoft.com/office/drawing/2014/main" id="{B645AEF2-2011-4818-A600-03C48B5C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697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Examples used in this project</a:t>
            </a:r>
          </a:p>
        </p:txBody>
      </p:sp>
      <p:sp>
        <p:nvSpPr>
          <p:cNvPr id="9" name="cell-s4h-2">
            <a:extLst xmlns:a="http://schemas.openxmlformats.org/drawingml/2006/main">
              <a:ext uri="{FF2B5EF4-FFF2-40B4-BE49-F238E27FC236}">
                <a16:creationId xmlns:a16="http://schemas.microsoft.com/office/drawing/2014/main" id="{0C305ABE-5F8B-4654-8C5F-238CB068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0178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</p:spPr>
      </p:sp>
      <p:sp>
        <p:nvSpPr>
          <p:cNvPr id="10" name="cell-text-s4h-2">
            <a:extLst xmlns:a="http://schemas.openxmlformats.org/drawingml/2006/main">
              <a:ext uri="{FF2B5EF4-FFF2-40B4-BE49-F238E27FC236}">
                <a16:creationId xmlns:a16="http://schemas.microsoft.com/office/drawing/2014/main" id="{423CEDC6-4C7A-46DA-AA3A-44D4396A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162300"/>
            <a:ext cx="506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1" name="cell-s4r1-0">
            <a:extLst xmlns:a="http://schemas.openxmlformats.org/drawingml/2006/main">
              <a:ext uri="{FF2B5EF4-FFF2-40B4-BE49-F238E27FC236}">
                <a16:creationId xmlns:a16="http://schemas.microsoft.com/office/drawing/2014/main" id="{AF19CDCD-2AD1-43CF-B3BE-A93DD90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027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12" name="cell-text-s4r1-0">
            <a:extLst xmlns:a="http://schemas.openxmlformats.org/drawingml/2006/main">
              <a:ext uri="{FF2B5EF4-FFF2-40B4-BE49-F238E27FC236}">
                <a16:creationId xmlns:a16="http://schemas.microsoft.com/office/drawing/2014/main" id="{B4E954ED-17D2-4C56-9CA9-B8C5119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Local legal texts</a:t>
            </a:r>
          </a:p>
        </p:txBody>
      </p:sp>
      <p:sp>
        <p:nvSpPr>
          <p:cNvPr id="13" name="cell-s4r1-1">
            <a:extLst xmlns:a="http://schemas.openxmlformats.org/drawingml/2006/main">
              <a:ext uri="{FF2B5EF4-FFF2-40B4-BE49-F238E27FC236}">
                <a16:creationId xmlns:a16="http://schemas.microsoft.com/office/drawing/2014/main" id="{8E0C99A4-56DA-4CBF-999F-E61B6569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70275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4" name="cell-text-s4r1-1">
            <a:extLst xmlns:a="http://schemas.openxmlformats.org/drawingml/2006/main">
              <a:ext uri="{FF2B5EF4-FFF2-40B4-BE49-F238E27FC236}">
                <a16:creationId xmlns:a16="http://schemas.microsoft.com/office/drawing/2014/main" id="{894579A4-47DE-465D-A2DB-456294BA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Indian Constitution, UN Charter, ICCPR, ICESCR, Brownlie's Principles, Roman law text, arbitration law texts</a:t>
            </a:r>
          </a:p>
        </p:txBody>
      </p:sp>
      <p:sp>
        <p:nvSpPr>
          <p:cNvPr id="15" name="cell-s4r1-2">
            <a:extLst xmlns:a="http://schemas.openxmlformats.org/drawingml/2006/main">
              <a:ext uri="{FF2B5EF4-FFF2-40B4-BE49-F238E27FC236}">
                <a16:creationId xmlns:a16="http://schemas.microsoft.com/office/drawing/2014/main" id="{F951584F-3841-46E2-A836-FA76EC65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570275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16" name="cell-text-s4r1-2">
            <a:extLst xmlns:a="http://schemas.openxmlformats.org/drawingml/2006/main">
              <a:ext uri="{FF2B5EF4-FFF2-40B4-BE49-F238E27FC236}">
                <a16:creationId xmlns:a16="http://schemas.microsoft.com/office/drawing/2014/main" id="{CF909402-2CEB-42E5-98D2-93574AA9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69570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Runtime retrieval and source-backed explanation</a:t>
            </a:r>
          </a:p>
        </p:txBody>
      </p:sp>
      <p:sp>
        <p:nvSpPr>
          <p:cNvPr id="17" name="cell-s4r2-0">
            <a:extLst xmlns:a="http://schemas.openxmlformats.org/drawingml/2006/main">
              <a:ext uri="{FF2B5EF4-FFF2-40B4-BE49-F238E27FC236}">
                <a16:creationId xmlns:a16="http://schemas.microsoft.com/office/drawing/2014/main" id="{7C449F41-C602-4734-AB19-7AFB0DEF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13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18" name="cell-text-s4r2-0">
            <a:extLst xmlns:a="http://schemas.openxmlformats.org/drawingml/2006/main">
              <a:ext uri="{FF2B5EF4-FFF2-40B4-BE49-F238E27FC236}">
                <a16:creationId xmlns:a16="http://schemas.microsoft.com/office/drawing/2014/main" id="{A0ABB92F-D840-446A-A3BE-95411C09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Parsed corpus</a:t>
            </a:r>
          </a:p>
        </p:txBody>
      </p:sp>
      <p:sp>
        <p:nvSpPr>
          <p:cNvPr id="19" name="cell-s4r2-1">
            <a:extLst xmlns:a="http://schemas.openxmlformats.org/drawingml/2006/main">
              <a:ext uri="{FF2B5EF4-FFF2-40B4-BE49-F238E27FC236}">
                <a16:creationId xmlns:a16="http://schemas.microsoft.com/office/drawing/2014/main" id="{CB39DDD7-C6FE-4E70-BD3C-32844C65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1325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cell-text-s4r2-1">
            <a:extLst xmlns:a="http://schemas.openxmlformats.org/drawingml/2006/main">
              <a:ext uri="{FF2B5EF4-FFF2-40B4-BE49-F238E27FC236}">
                <a16:creationId xmlns:a16="http://schemas.microsoft.com/office/drawing/2014/main" id="{C619292B-8401-47DE-8845-B47E1EC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parsed_pdf.txt and Law Text Files grouped into Indian Law and International Law</a:t>
            </a:r>
          </a:p>
        </p:txBody>
      </p:sp>
      <p:sp>
        <p:nvSpPr>
          <p:cNvPr id="21" name="cell-s4r2-2">
            <a:extLst xmlns:a="http://schemas.openxmlformats.org/drawingml/2006/main">
              <a:ext uri="{FF2B5EF4-FFF2-40B4-BE49-F238E27FC236}">
                <a16:creationId xmlns:a16="http://schemas.microsoft.com/office/drawing/2014/main" id="{F3967870-2B57-447B-9A20-5B156C1F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351325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22" name="cell-text-s4r2-2">
            <a:extLst xmlns:a="http://schemas.openxmlformats.org/drawingml/2006/main">
              <a:ext uri="{FF2B5EF4-FFF2-40B4-BE49-F238E27FC236}">
                <a16:creationId xmlns:a16="http://schemas.microsoft.com/office/drawing/2014/main" id="{BB58E50C-1FE3-4A84-A28A-54C14A81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4767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Chunking, search, and grounding</a:t>
            </a:r>
          </a:p>
        </p:txBody>
      </p:sp>
      <p:sp>
        <p:nvSpPr>
          <p:cNvPr id="23" name="cell-s4r3-0">
            <a:extLst xmlns:a="http://schemas.openxmlformats.org/drawingml/2006/main">
              <a:ext uri="{FF2B5EF4-FFF2-40B4-BE49-F238E27FC236}">
                <a16:creationId xmlns:a16="http://schemas.microsoft.com/office/drawing/2014/main" id="{6812BBB4-C683-4ADD-9CC7-6CC3BB95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237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24" name="cell-text-s4r3-0">
            <a:extLst xmlns:a="http://schemas.openxmlformats.org/drawingml/2006/main">
              <a:ext uri="{FF2B5EF4-FFF2-40B4-BE49-F238E27FC236}">
                <a16:creationId xmlns:a16="http://schemas.microsoft.com/office/drawing/2014/main" id="{4D291489-2BE1-423B-991F-5283FEA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Dataset registry</a:t>
            </a:r>
          </a:p>
        </p:txBody>
      </p:sp>
      <p:sp>
        <p:nvSpPr>
          <p:cNvPr id="25" name="cell-s4r3-1">
            <a:extLst xmlns:a="http://schemas.openxmlformats.org/drawingml/2006/main">
              <a:ext uri="{FF2B5EF4-FFF2-40B4-BE49-F238E27FC236}">
                <a16:creationId xmlns:a16="http://schemas.microsoft.com/office/drawing/2014/main" id="{58D9D752-84D8-4472-A33C-6E955A50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32375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6" name="cell-text-s4r3-1">
            <a:extLst xmlns:a="http://schemas.openxmlformats.org/drawingml/2006/main">
              <a:ext uri="{FF2B5EF4-FFF2-40B4-BE49-F238E27FC236}">
                <a16:creationId xmlns:a16="http://schemas.microsoft.com/office/drawing/2014/main" id="{7AE9ACD6-0EC9-412E-9C4B-CE968887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5780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17 registered datasets including QA, summarization, conflict, stance, retrieval, and benchmark references</a:t>
            </a:r>
          </a:p>
        </p:txBody>
      </p:sp>
      <p:sp>
        <p:nvSpPr>
          <p:cNvPr id="27" name="cell-s4r3-2">
            <a:extLst xmlns:a="http://schemas.openxmlformats.org/drawingml/2006/main">
              <a:ext uri="{FF2B5EF4-FFF2-40B4-BE49-F238E27FC236}">
                <a16:creationId xmlns:a16="http://schemas.microsoft.com/office/drawing/2014/main" id="{13D8C9F2-9F0E-47D2-8CFB-661E16CD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32375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28" name="cell-text-s4r3-2">
            <a:extLst xmlns:a="http://schemas.openxmlformats.org/drawingml/2006/main">
              <a:ext uri="{FF2B5EF4-FFF2-40B4-BE49-F238E27FC236}">
                <a16:creationId xmlns:a16="http://schemas.microsoft.com/office/drawing/2014/main" id="{84B94A1C-6131-4A8C-81D6-E2F5F6C2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25780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Training and evaluation planning</a:t>
            </a:r>
          </a:p>
        </p:txBody>
      </p:sp>
      <p:sp>
        <p:nvSpPr>
          <p:cNvPr id="29" name="cell-s4r4-0">
            <a:extLst xmlns:a="http://schemas.openxmlformats.org/drawingml/2006/main">
              <a:ext uri="{FF2B5EF4-FFF2-40B4-BE49-F238E27FC236}">
                <a16:creationId xmlns:a16="http://schemas.microsoft.com/office/drawing/2014/main" id="{524D8D55-FA49-4C97-84B2-C4150791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34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30" name="cell-text-s4r4-0">
            <a:extLst xmlns:a="http://schemas.openxmlformats.org/drawingml/2006/main">
              <a:ext uri="{FF2B5EF4-FFF2-40B4-BE49-F238E27FC236}">
                <a16:creationId xmlns:a16="http://schemas.microsoft.com/office/drawing/2014/main" id="{DA71E593-C93E-423D-8D03-1920ECC1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Donor registry</a:t>
            </a:r>
          </a:p>
        </p:txBody>
      </p:sp>
      <p:sp>
        <p:nvSpPr>
          <p:cNvPr id="31" name="cell-s4r4-1">
            <a:extLst xmlns:a="http://schemas.openxmlformats.org/drawingml/2006/main">
              <a:ext uri="{FF2B5EF4-FFF2-40B4-BE49-F238E27FC236}">
                <a16:creationId xmlns:a16="http://schemas.microsoft.com/office/drawing/2014/main" id="{679D5069-E234-497E-978C-5B8CE3B4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13425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cell-text-s4r4-1">
            <a:extLst xmlns:a="http://schemas.openxmlformats.org/drawingml/2006/main">
              <a:ext uri="{FF2B5EF4-FFF2-40B4-BE49-F238E27FC236}">
                <a16:creationId xmlns:a16="http://schemas.microsoft.com/office/drawing/2014/main" id="{36313EE3-F95D-47B6-8B56-01325A42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3885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Law-AI summarization, CLERC, LLeQA, BSARD, argument mining, FairLex, CaseHOLD, LexGLUE</a:t>
            </a:r>
          </a:p>
        </p:txBody>
      </p:sp>
      <p:sp>
        <p:nvSpPr>
          <p:cNvPr id="33" name="cell-s4r4-2">
            <a:extLst xmlns:a="http://schemas.openxmlformats.org/drawingml/2006/main">
              <a:ext uri="{FF2B5EF4-FFF2-40B4-BE49-F238E27FC236}">
                <a16:creationId xmlns:a16="http://schemas.microsoft.com/office/drawing/2014/main" id="{52D0E22A-3B95-4A34-9B95-A6CFB100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913425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34" name="cell-text-s4r4-2">
            <a:extLst xmlns:a="http://schemas.openxmlformats.org/drawingml/2006/main">
              <a:ext uri="{FF2B5EF4-FFF2-40B4-BE49-F238E27FC236}">
                <a16:creationId xmlns:a16="http://schemas.microsoft.com/office/drawing/2014/main" id="{E1FBDC6D-8586-4BF1-98F5-D1C6EE6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0388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Reusable patterns and benchmark framing</a:t>
            </a:r>
          </a:p>
        </p:txBody>
      </p:sp>
      <p:sp>
        <p:nvSpPr>
          <p:cNvPr id="35" name="cell-s4r5-0">
            <a:extLst xmlns:a="http://schemas.openxmlformats.org/drawingml/2006/main">
              <a:ext uri="{FF2B5EF4-FFF2-40B4-BE49-F238E27FC236}">
                <a16:creationId xmlns:a16="http://schemas.microsoft.com/office/drawing/2014/main" id="{265B39BD-E283-4587-AFF2-3232A5B8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9447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36" name="cell-text-s4r5-0">
            <a:extLst xmlns:a="http://schemas.openxmlformats.org/drawingml/2006/main">
              <a:ext uri="{FF2B5EF4-FFF2-40B4-BE49-F238E27FC236}">
                <a16:creationId xmlns:a16="http://schemas.microsoft.com/office/drawing/2014/main" id="{F5E41B4E-7A30-4EE7-924B-84D33BCF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199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Case-law sources</a:t>
            </a:r>
          </a:p>
        </p:txBody>
      </p:sp>
      <p:sp>
        <p:nvSpPr>
          <p:cNvPr id="37" name="cell-s4r5-1">
            <a:extLst xmlns:a="http://schemas.openxmlformats.org/drawingml/2006/main">
              <a:ext uri="{FF2B5EF4-FFF2-40B4-BE49-F238E27FC236}">
                <a16:creationId xmlns:a16="http://schemas.microsoft.com/office/drawing/2014/main" id="{26B62281-22B8-459C-8B2D-620BDEDB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694475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8" name="cell-text-s4r5-1">
            <a:extLst xmlns:a="http://schemas.openxmlformats.org/drawingml/2006/main">
              <a:ext uri="{FF2B5EF4-FFF2-40B4-BE49-F238E27FC236}">
                <a16:creationId xmlns:a16="http://schemas.microsoft.com/office/drawing/2014/main" id="{BF96CA0E-D0E0-45B7-ADBC-2E97BD4B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81990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Indian, US, UK, EU, Russia, Israel, and international source groups</a:t>
            </a:r>
          </a:p>
        </p:txBody>
      </p:sp>
      <p:sp>
        <p:nvSpPr>
          <p:cNvPr id="39" name="cell-s4r5-2">
            <a:extLst xmlns:a="http://schemas.openxmlformats.org/drawingml/2006/main">
              <a:ext uri="{FF2B5EF4-FFF2-40B4-BE49-F238E27FC236}">
                <a16:creationId xmlns:a16="http://schemas.microsoft.com/office/drawing/2014/main" id="{EFA37A78-9491-415F-9E99-C37958E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694475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40" name="cell-text-s4r5-2">
            <a:extLst xmlns:a="http://schemas.openxmlformats.org/drawingml/2006/main">
              <a:ext uri="{FF2B5EF4-FFF2-40B4-BE49-F238E27FC236}">
                <a16:creationId xmlns:a16="http://schemas.microsoft.com/office/drawing/2014/main" id="{3FDA4841-EC0D-4D38-A5DE-810269F8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81990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Comparative and jurisdiction-specific analysis</a:t>
            </a:r>
          </a:p>
        </p:txBody>
      </p:sp>
      <p:sp>
        <p:nvSpPr>
          <p:cNvPr id="41" name="s4-note">
            <a:extLst xmlns:a="http://schemas.openxmlformats.org/drawingml/2006/main">
              <a:ext uri="{FF2B5EF4-FFF2-40B4-BE49-F238E27FC236}">
                <a16:creationId xmlns:a16="http://schemas.microsoft.com/office/drawing/2014/main" id="{3B1404FB-A31E-45D2-A57F-D9A0826D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15250"/>
            <a:ext cx="1181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4A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4A42"/>
                </a:solidFill>
                <a:latin typeface="Aptos"/>
                <a:ea typeface="Aptos"/>
                <a:cs typeface="Aptos"/>
              </a:rPr>
              <a:t>Design note: the system should always distinguish source-grounded answers from AI-inferred or unavailable-source answers.</a:t>
            </a:r>
          </a:p>
        </p:txBody>
      </p:sp>
      <p:sp>
        <p:nvSpPr>
          <p:cNvPr id="42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C42DFE28-EC09-4299-9C33-95635618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48650"/>
            <a:ext cx="1584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9727D"/>
                </a:solidFill>
                <a:latin typeface="Aptos"/>
                <a:ea typeface="Aptos"/>
                <a:cs typeface="Aptos"/>
              </a:rPr>
              <a:t>GE 23627 Design Thinking and Innovation | OmniLegal AI</a:t>
            </a:r>
          </a:p>
        </p:txBody>
      </p:sp>
      <p:sp>
        <p:nvSpPr>
          <p:cNvPr id="43" name="footer-no-4">
            <a:extLst xmlns:a="http://schemas.openxmlformats.org/drawingml/2006/main">
              <a:ext uri="{FF2B5EF4-FFF2-40B4-BE49-F238E27FC236}">
                <a16:creationId xmlns:a16="http://schemas.microsoft.com/office/drawing/2014/main" id="{78F5623E-641C-4A01-B3B7-AAD9F5B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82486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972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7484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side">
            <a:extLst xmlns:a="http://schemas.openxmlformats.org/drawingml/2006/main">
              <a:ext uri="{FF2B5EF4-FFF2-40B4-BE49-F238E27FC236}">
                <a16:creationId xmlns:a16="http://schemas.microsoft.com/office/drawing/2014/main" id="{24064FE5-7192-4801-B468-22377BA7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285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</a:ln>
        </p:spPr>
      </p:sp>
      <p:sp>
        <p:nvSpPr>
          <p:cNvPr id="2" name="mark-Literature review">
            <a:extLst xmlns:a="http://schemas.openxmlformats.org/drawingml/2006/main">
              <a:ext uri="{FF2B5EF4-FFF2-40B4-BE49-F238E27FC236}">
                <a16:creationId xmlns:a16="http://schemas.microsoft.com/office/drawing/2014/main" id="{F92AE10E-C4EB-415A-9587-396CB79A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</p:spPr>
      </p:sp>
      <p:sp>
        <p:nvSpPr>
          <p:cNvPr id="3" name="kicker-text-Literature review">
            <a:extLst xmlns:a="http://schemas.openxmlformats.org/drawingml/2006/main">
              <a:ext uri="{FF2B5EF4-FFF2-40B4-BE49-F238E27FC236}">
                <a16:creationId xmlns:a16="http://schemas.microsoft.com/office/drawing/2014/main" id="{F55D94F2-0A91-4D48-9DF7-51E042C4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048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A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55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4" name="s5-slide-title">
            <a:extLst xmlns:a="http://schemas.openxmlformats.org/drawingml/2006/main">
              <a:ext uri="{FF2B5EF4-FFF2-40B4-BE49-F238E27FC236}">
                <a16:creationId xmlns:a16="http://schemas.microsoft.com/office/drawing/2014/main" id="{FE6D115F-3CE4-439C-9B44-F55886FE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23253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101419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01419"/>
                </a:solidFill>
                <a:latin typeface="Georgia"/>
                <a:ea typeface="Georgia"/>
                <a:cs typeface="Georgia"/>
              </a:rPr>
              <a:t>The project combines ideas from legal NLP, RAG, and responsible AI evaluation</a:t>
            </a:r>
          </a:p>
        </p:txBody>
      </p:sp>
      <p:sp>
        <p:nvSpPr>
          <p:cNvPr id="5" name="s5-slide-subtitle">
            <a:extLst xmlns:a="http://schemas.openxmlformats.org/drawingml/2006/main">
              <a:ext uri="{FF2B5EF4-FFF2-40B4-BE49-F238E27FC236}">
                <a16:creationId xmlns:a16="http://schemas.microsoft.com/office/drawing/2014/main" id="{ECBB6988-FECC-44CF-9D06-34694E42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817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69727D"/>
                </a:solidFill>
                <a:latin typeface="Aptos"/>
                <a:ea typeface="Aptos"/>
                <a:cs typeface="Aptos"/>
              </a:rPr>
              <a:t>The literature review shows why plain generation is not enough for the legal domain.</a:t>
            </a:r>
          </a:p>
        </p:txBody>
      </p:sp>
      <p:sp>
        <p:nvSpPr>
          <p:cNvPr id="6" name="cell-s5h-0">
            <a:extLst xmlns:a="http://schemas.openxmlformats.org/drawingml/2006/main">
              <a:ext uri="{FF2B5EF4-FFF2-40B4-BE49-F238E27FC236}">
                <a16:creationId xmlns:a16="http://schemas.microsoft.com/office/drawing/2014/main" id="{F204D088-78F5-4325-9D43-FA5D2A5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782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</p:spPr>
      </p:sp>
      <p:sp>
        <p:nvSpPr>
          <p:cNvPr id="7" name="cell-text-s5h-0">
            <a:extLst xmlns:a="http://schemas.openxmlformats.org/drawingml/2006/main">
              <a:ext uri="{FF2B5EF4-FFF2-40B4-BE49-F238E27FC236}">
                <a16:creationId xmlns:a16="http://schemas.microsoft.com/office/drawing/2014/main" id="{892CBF52-0BF7-4843-A893-A0504ED3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cell-s5h-1">
            <a:extLst xmlns:a="http://schemas.openxmlformats.org/drawingml/2006/main">
              <a:ext uri="{FF2B5EF4-FFF2-40B4-BE49-F238E27FC236}">
                <a16:creationId xmlns:a16="http://schemas.microsoft.com/office/drawing/2014/main" id="{C7988B8A-9E69-4E5A-989A-8A9B507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7825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</p:spPr>
      </p:sp>
      <p:sp>
        <p:nvSpPr>
          <p:cNvPr id="9" name="cell-text-s5h-1">
            <a:extLst xmlns:a="http://schemas.openxmlformats.org/drawingml/2006/main">
              <a:ext uri="{FF2B5EF4-FFF2-40B4-BE49-F238E27FC236}">
                <a16:creationId xmlns:a16="http://schemas.microsoft.com/office/drawing/2014/main" id="{4CBD089D-0696-4BC3-8325-C27E95C3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563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Existing direction</a:t>
            </a:r>
          </a:p>
        </p:txBody>
      </p:sp>
      <p:sp>
        <p:nvSpPr>
          <p:cNvPr id="10" name="cell-s5h-2">
            <a:extLst xmlns:a="http://schemas.openxmlformats.org/drawingml/2006/main">
              <a:ext uri="{FF2B5EF4-FFF2-40B4-BE49-F238E27FC236}">
                <a16:creationId xmlns:a16="http://schemas.microsoft.com/office/drawing/2014/main" id="{72B0182D-55BE-48B2-968D-0CB04E70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178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</p:spPr>
      </p:sp>
      <p:sp>
        <p:nvSpPr>
          <p:cNvPr id="11" name="cell-text-s5h-2">
            <a:extLst xmlns:a="http://schemas.openxmlformats.org/drawingml/2006/main">
              <a:ext uri="{FF2B5EF4-FFF2-40B4-BE49-F238E27FC236}">
                <a16:creationId xmlns:a16="http://schemas.microsoft.com/office/drawing/2014/main" id="{3D8A5555-DFFC-45D2-889A-FFDD891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62300"/>
            <a:ext cx="640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Gap addressed by OmniLegal</a:t>
            </a:r>
          </a:p>
        </p:txBody>
      </p:sp>
      <p:sp>
        <p:nvSpPr>
          <p:cNvPr id="12" name="cell-s5r1-0">
            <a:extLst xmlns:a="http://schemas.openxmlformats.org/drawingml/2006/main">
              <a:ext uri="{FF2B5EF4-FFF2-40B4-BE49-F238E27FC236}">
                <a16:creationId xmlns:a16="http://schemas.microsoft.com/office/drawing/2014/main" id="{9523B861-209E-43F9-A4F7-47EA79B2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027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13" name="cell-text-s5r1-0">
            <a:extLst xmlns:a="http://schemas.openxmlformats.org/drawingml/2006/main">
              <a:ext uri="{FF2B5EF4-FFF2-40B4-BE49-F238E27FC236}">
                <a16:creationId xmlns:a16="http://schemas.microsoft.com/office/drawing/2014/main" id="{6513D7CA-8C8E-4878-87B1-22B52B08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Legal search platforms</a:t>
            </a:r>
          </a:p>
        </p:txBody>
      </p:sp>
      <p:sp>
        <p:nvSpPr>
          <p:cNvPr id="14" name="cell-s5r1-1">
            <a:extLst xmlns:a="http://schemas.openxmlformats.org/drawingml/2006/main">
              <a:ext uri="{FF2B5EF4-FFF2-40B4-BE49-F238E27FC236}">
                <a16:creationId xmlns:a16="http://schemas.microsoft.com/office/drawing/2014/main" id="{CDFA2A83-6BF7-4F38-BF0C-8980F530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70275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5" name="cell-text-s5r1-1">
            <a:extLst xmlns:a="http://schemas.openxmlformats.org/drawingml/2006/main">
              <a:ext uri="{FF2B5EF4-FFF2-40B4-BE49-F238E27FC236}">
                <a16:creationId xmlns:a16="http://schemas.microsoft.com/office/drawing/2014/main" id="{DF3DA280-FBEC-47B0-904D-6E773D1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Retrieve cases, statutes, and documents but require manual interpretation.</a:t>
            </a:r>
          </a:p>
        </p:txBody>
      </p:sp>
      <p:sp>
        <p:nvSpPr>
          <p:cNvPr id="16" name="cell-s5r1-2">
            <a:extLst xmlns:a="http://schemas.openxmlformats.org/drawingml/2006/main">
              <a:ext uri="{FF2B5EF4-FFF2-40B4-BE49-F238E27FC236}">
                <a16:creationId xmlns:a16="http://schemas.microsoft.com/office/drawing/2014/main" id="{C5FA0EA2-E898-45E0-9D6E-D7CE720C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70275"/>
            <a:ext cx="666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17" name="cell-text-s5r1-2">
            <a:extLst xmlns:a="http://schemas.openxmlformats.org/drawingml/2006/main">
              <a:ext uri="{FF2B5EF4-FFF2-40B4-BE49-F238E27FC236}">
                <a16:creationId xmlns:a16="http://schemas.microsoft.com/office/drawing/2014/main" id="{E93D7637-E0A7-4A4B-AF75-18EBC542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57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Adds summarized, structured, and persona-specific outputs.</a:t>
            </a:r>
          </a:p>
        </p:txBody>
      </p:sp>
      <p:sp>
        <p:nvSpPr>
          <p:cNvPr id="18" name="cell-s5r2-0">
            <a:extLst xmlns:a="http://schemas.openxmlformats.org/drawingml/2006/main">
              <a:ext uri="{FF2B5EF4-FFF2-40B4-BE49-F238E27FC236}">
                <a16:creationId xmlns:a16="http://schemas.microsoft.com/office/drawing/2014/main" id="{56B0917F-5CAF-4AF5-97DC-628A80CB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13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19" name="cell-text-s5r2-0">
            <a:extLst xmlns:a="http://schemas.openxmlformats.org/drawingml/2006/main">
              <a:ext uri="{FF2B5EF4-FFF2-40B4-BE49-F238E27FC236}">
                <a16:creationId xmlns:a16="http://schemas.microsoft.com/office/drawing/2014/main" id="{F42EB96F-3D77-49AC-B20F-917B7EE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General LLMs</a:t>
            </a:r>
          </a:p>
        </p:txBody>
      </p:sp>
      <p:sp>
        <p:nvSpPr>
          <p:cNvPr id="20" name="cell-s5r2-1">
            <a:extLst xmlns:a="http://schemas.openxmlformats.org/drawingml/2006/main">
              <a:ext uri="{FF2B5EF4-FFF2-40B4-BE49-F238E27FC236}">
                <a16:creationId xmlns:a16="http://schemas.microsoft.com/office/drawing/2014/main" id="{A1C11643-442B-4EAC-8717-9CC1C7B7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1325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1" name="cell-text-s5r2-1">
            <a:extLst xmlns:a="http://schemas.openxmlformats.org/drawingml/2006/main">
              <a:ext uri="{FF2B5EF4-FFF2-40B4-BE49-F238E27FC236}">
                <a16:creationId xmlns:a16="http://schemas.microsoft.com/office/drawing/2014/main" id="{2501D4BE-3C18-49E2-BEBD-38017FB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Generate fluent legal explanations but may hallucinate citations.</a:t>
            </a:r>
          </a:p>
        </p:txBody>
      </p:sp>
      <p:sp>
        <p:nvSpPr>
          <p:cNvPr id="22" name="cell-s5r2-2">
            <a:extLst xmlns:a="http://schemas.openxmlformats.org/drawingml/2006/main">
              <a:ext uri="{FF2B5EF4-FFF2-40B4-BE49-F238E27FC236}">
                <a16:creationId xmlns:a16="http://schemas.microsoft.com/office/drawing/2014/main" id="{5DDF9B98-13B6-4BE1-82D8-860C7555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351325"/>
            <a:ext cx="666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23" name="cell-text-s5r2-2">
            <a:extLst xmlns:a="http://schemas.openxmlformats.org/drawingml/2006/main">
              <a:ext uri="{FF2B5EF4-FFF2-40B4-BE49-F238E27FC236}">
                <a16:creationId xmlns:a16="http://schemas.microsoft.com/office/drawing/2014/main" id="{EE8AEE44-8660-42B1-9854-5DE8177E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7675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Adds retrieval, source panels, and citation verification.</a:t>
            </a:r>
          </a:p>
        </p:txBody>
      </p:sp>
      <p:sp>
        <p:nvSpPr>
          <p:cNvPr id="24" name="cell-s5r3-0">
            <a:extLst xmlns:a="http://schemas.openxmlformats.org/drawingml/2006/main">
              <a:ext uri="{FF2B5EF4-FFF2-40B4-BE49-F238E27FC236}">
                <a16:creationId xmlns:a16="http://schemas.microsoft.com/office/drawing/2014/main" id="{9350A0B5-A562-44B9-A773-276F911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237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25" name="cell-text-s5r3-0">
            <a:extLst xmlns:a="http://schemas.openxmlformats.org/drawingml/2006/main">
              <a:ext uri="{FF2B5EF4-FFF2-40B4-BE49-F238E27FC236}">
                <a16:creationId xmlns:a16="http://schemas.microsoft.com/office/drawing/2014/main" id="{E367F377-60B7-4DFB-8E14-94909DA5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Legal NLP datasets</a:t>
            </a:r>
          </a:p>
        </p:txBody>
      </p:sp>
      <p:sp>
        <p:nvSpPr>
          <p:cNvPr id="26" name="cell-s5r3-1">
            <a:extLst xmlns:a="http://schemas.openxmlformats.org/drawingml/2006/main">
              <a:ext uri="{FF2B5EF4-FFF2-40B4-BE49-F238E27FC236}">
                <a16:creationId xmlns:a16="http://schemas.microsoft.com/office/drawing/2014/main" id="{BE72CCD0-E7B7-4CFC-9CC9-BA6AF288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32375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cell-text-s5r3-1">
            <a:extLst xmlns:a="http://schemas.openxmlformats.org/drawingml/2006/main">
              <a:ext uri="{FF2B5EF4-FFF2-40B4-BE49-F238E27FC236}">
                <a16:creationId xmlns:a16="http://schemas.microsoft.com/office/drawing/2014/main" id="{E7D23D95-BFD0-4B0F-88E2-6A14022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5780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LexGLUE, CaseHOLD, CLERC, LLeQA, BSARD, FairLex support evaluation.</a:t>
            </a:r>
          </a:p>
        </p:txBody>
      </p:sp>
      <p:sp>
        <p:nvSpPr>
          <p:cNvPr id="28" name="cell-s5r3-2">
            <a:extLst xmlns:a="http://schemas.openxmlformats.org/drawingml/2006/main">
              <a:ext uri="{FF2B5EF4-FFF2-40B4-BE49-F238E27FC236}">
                <a16:creationId xmlns:a16="http://schemas.microsoft.com/office/drawing/2014/main" id="{D76D87F5-94B1-43A3-9818-242A162C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132375"/>
            <a:ext cx="666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29" name="cell-text-s5r3-2">
            <a:extLst xmlns:a="http://schemas.openxmlformats.org/drawingml/2006/main">
              <a:ext uri="{FF2B5EF4-FFF2-40B4-BE49-F238E27FC236}">
                <a16:creationId xmlns:a16="http://schemas.microsoft.com/office/drawing/2014/main" id="{A790628F-F35A-4FEA-9457-10CD6349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578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Uses dataset registry and benchmark ideas inside an app workflow.</a:t>
            </a:r>
          </a:p>
        </p:txBody>
      </p:sp>
      <p:sp>
        <p:nvSpPr>
          <p:cNvPr id="30" name="cell-s5r4-0">
            <a:extLst xmlns:a="http://schemas.openxmlformats.org/drawingml/2006/main">
              <a:ext uri="{FF2B5EF4-FFF2-40B4-BE49-F238E27FC236}">
                <a16:creationId xmlns:a16="http://schemas.microsoft.com/office/drawing/2014/main" id="{906060CD-EC51-46F7-A6EA-C2269947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34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31" name="cell-text-s5r4-0">
            <a:extLst xmlns:a="http://schemas.openxmlformats.org/drawingml/2006/main">
              <a:ext uri="{FF2B5EF4-FFF2-40B4-BE49-F238E27FC236}">
                <a16:creationId xmlns:a16="http://schemas.microsoft.com/office/drawing/2014/main" id="{5A075B39-2585-449A-84E3-7D3B52A6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RAG systems</a:t>
            </a:r>
          </a:p>
        </p:txBody>
      </p:sp>
      <p:sp>
        <p:nvSpPr>
          <p:cNvPr id="32" name="cell-s5r4-1">
            <a:extLst xmlns:a="http://schemas.openxmlformats.org/drawingml/2006/main">
              <a:ext uri="{FF2B5EF4-FFF2-40B4-BE49-F238E27FC236}">
                <a16:creationId xmlns:a16="http://schemas.microsoft.com/office/drawing/2014/main" id="{5E9C6F9A-733E-4FC5-AB6B-33431A0B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13425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3" name="cell-text-s5r4-1">
            <a:extLst xmlns:a="http://schemas.openxmlformats.org/drawingml/2006/main">
              <a:ext uri="{FF2B5EF4-FFF2-40B4-BE49-F238E27FC236}">
                <a16:creationId xmlns:a16="http://schemas.microsoft.com/office/drawing/2014/main" id="{B6D15F6E-83DC-49BF-A003-85FF3063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388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Ground answers using retrieved context.</a:t>
            </a:r>
          </a:p>
        </p:txBody>
      </p:sp>
      <p:sp>
        <p:nvSpPr>
          <p:cNvPr id="34" name="cell-s5r4-2">
            <a:extLst xmlns:a="http://schemas.openxmlformats.org/drawingml/2006/main">
              <a:ext uri="{FF2B5EF4-FFF2-40B4-BE49-F238E27FC236}">
                <a16:creationId xmlns:a16="http://schemas.microsoft.com/office/drawing/2014/main" id="{2EE2AAF4-6F23-4B89-9A8B-319352D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13425"/>
            <a:ext cx="666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35" name="cell-text-s5r4-2">
            <a:extLst xmlns:a="http://schemas.openxmlformats.org/drawingml/2006/main">
              <a:ext uri="{FF2B5EF4-FFF2-40B4-BE49-F238E27FC236}">
                <a16:creationId xmlns:a16="http://schemas.microsoft.com/office/drawing/2014/main" id="{288D4E15-6820-46E1-9FD7-A11DF99F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3885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Adds jurisdiction routing, legal personas, and forensic citation audit.</a:t>
            </a:r>
          </a:p>
        </p:txBody>
      </p:sp>
      <p:sp>
        <p:nvSpPr>
          <p:cNvPr id="36" name="cell-s5r5-0">
            <a:extLst xmlns:a="http://schemas.openxmlformats.org/drawingml/2006/main">
              <a:ext uri="{FF2B5EF4-FFF2-40B4-BE49-F238E27FC236}">
                <a16:creationId xmlns:a16="http://schemas.microsoft.com/office/drawing/2014/main" id="{BBC86A70-AC7D-4370-BD81-FE3FF996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9447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37" name="cell-text-s5r5-0">
            <a:extLst xmlns:a="http://schemas.openxmlformats.org/drawingml/2006/main">
              <a:ext uri="{FF2B5EF4-FFF2-40B4-BE49-F238E27FC236}">
                <a16:creationId xmlns:a16="http://schemas.microsoft.com/office/drawing/2014/main" id="{0F5E7AFE-2CF1-49F6-B8CD-184B3B62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19900"/>
            <a:ext cx="316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Responsible AI</a:t>
            </a:r>
          </a:p>
        </p:txBody>
      </p:sp>
      <p:sp>
        <p:nvSpPr>
          <p:cNvPr id="38" name="cell-s5r5-1">
            <a:extLst xmlns:a="http://schemas.openxmlformats.org/drawingml/2006/main">
              <a:ext uri="{FF2B5EF4-FFF2-40B4-BE49-F238E27FC236}">
                <a16:creationId xmlns:a16="http://schemas.microsoft.com/office/drawing/2014/main" id="{F1405EC4-E7E0-4D51-83C0-7E3DBC59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694475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9" name="cell-text-s5r5-1">
            <a:extLst xmlns:a="http://schemas.openxmlformats.org/drawingml/2006/main">
              <a:ext uri="{FF2B5EF4-FFF2-40B4-BE49-F238E27FC236}">
                <a16:creationId xmlns:a16="http://schemas.microsoft.com/office/drawing/2014/main" id="{BE9419AE-24A6-40B3-BD92-076A5D03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81990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Measures faithfulness, hallucination risk, and source support.</a:t>
            </a:r>
          </a:p>
        </p:txBody>
      </p:sp>
      <p:sp>
        <p:nvSpPr>
          <p:cNvPr id="40" name="cell-s5r5-2">
            <a:extLst xmlns:a="http://schemas.openxmlformats.org/drawingml/2006/main">
              <a:ext uri="{FF2B5EF4-FFF2-40B4-BE49-F238E27FC236}">
                <a16:creationId xmlns:a16="http://schemas.microsoft.com/office/drawing/2014/main" id="{09618CA7-1B82-469F-99F1-8C6A9549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694475"/>
            <a:ext cx="666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</p:spPr>
      </p:sp>
      <p:sp>
        <p:nvSpPr>
          <p:cNvPr id="41" name="cell-text-s5r5-2">
            <a:extLst xmlns:a="http://schemas.openxmlformats.org/drawingml/2006/main">
              <a:ext uri="{FF2B5EF4-FFF2-40B4-BE49-F238E27FC236}">
                <a16:creationId xmlns:a16="http://schemas.microsoft.com/office/drawing/2014/main" id="{9ABB4601-F49A-4956-97E8-973E2BE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8199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B232D"/>
                </a:solidFill>
                <a:latin typeface="Aptos"/>
                <a:ea typeface="Aptos"/>
                <a:cs typeface="Aptos"/>
              </a:rPr>
              <a:t>Uses smoke tests, citation existence, quote match, and production gates.</a:t>
            </a:r>
          </a:p>
        </p:txBody>
      </p:sp>
      <p:sp>
        <p:nvSpPr>
          <p:cNvPr id="4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2B115E98-610E-419B-A987-1A97CBF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15250"/>
            <a:ext cx="1584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9727D"/>
                </a:solidFill>
                <a:latin typeface="Aptos"/>
                <a:ea typeface="Aptos"/>
                <a:cs typeface="Aptos"/>
              </a:rPr>
              <a:t>GE 23627 Design Thinking and Innovation | OmniLegal AI</a:t>
            </a:r>
          </a:p>
        </p:txBody>
      </p:sp>
      <p:sp>
        <p:nvSpPr>
          <p:cNvPr id="43" name="footer-no-5">
            <a:extLst xmlns:a="http://schemas.openxmlformats.org/drawingml/2006/main">
              <a:ext uri="{FF2B5EF4-FFF2-40B4-BE49-F238E27FC236}">
                <a16:creationId xmlns:a16="http://schemas.microsoft.com/office/drawing/2014/main" id="{610404E9-5101-4FCE-8A5C-A30BD9C3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77152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972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5911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gold-plane">
            <a:extLst xmlns:a="http://schemas.openxmlformats.org/drawingml/2006/main">
              <a:ext uri="{FF2B5EF4-FFF2-40B4-BE49-F238E27FC236}">
                <a16:creationId xmlns:a16="http://schemas.microsoft.com/office/drawing/2014/main" id="{FC0B494E-C6A8-45A2-8041-627C5FC8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001500" y="-1524000"/>
            <a:ext cx="4572000" cy="133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1F"/>
          </a:solidFill>
          <a:ln xmlns:a="http://schemas.openxmlformats.org/drawingml/2006/main" w="0">
            <a:solidFill>
              <a:srgbClr val="D9991F"/>
            </a:solidFill>
          </a:ln>
        </p:spPr>
      </p:sp>
      <p:sp>
        <p:nvSpPr>
          <p:cNvPr id="2" name="mark-Uniqueness">
            <a:extLst xmlns:a="http://schemas.openxmlformats.org/drawingml/2006/main">
              <a:ext uri="{FF2B5EF4-FFF2-40B4-BE49-F238E27FC236}">
                <a16:creationId xmlns:a16="http://schemas.microsoft.com/office/drawing/2014/main" id="{6593FB0A-C894-4930-BAA6-09BFF904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3" name="kicker-text-Uniqueness">
            <a:extLst xmlns:a="http://schemas.openxmlformats.org/drawingml/2006/main">
              <a:ext uri="{FF2B5EF4-FFF2-40B4-BE49-F238E27FC236}">
                <a16:creationId xmlns:a16="http://schemas.microsoft.com/office/drawing/2014/main" id="{7BD0B65F-715C-4498-9BBE-4CF72C7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10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9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91F"/>
                </a:solidFill>
                <a:latin typeface="Aptos"/>
                <a:ea typeface="Aptos"/>
                <a:cs typeface="Aptos"/>
              </a:rPr>
              <a:t>UNIQUENESS</a:t>
            </a:r>
          </a:p>
        </p:txBody>
      </p:sp>
      <p:sp>
        <p:nvSpPr>
          <p:cNvPr id="4" name="s6-title">
            <a:extLst xmlns:a="http://schemas.openxmlformats.org/drawingml/2006/main">
              <a:ext uri="{FF2B5EF4-FFF2-40B4-BE49-F238E27FC236}">
                <a16:creationId xmlns:a16="http://schemas.microsoft.com/office/drawing/2014/main" id="{D665C469-3825-4503-B83B-AA6F7B4E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19200"/>
            <a:ext cx="4552950" cy="3219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verdict.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map.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proof.</a:t>
            </a:r>
          </a:p>
        </p:txBody>
      </p:sp>
      <p:sp>
        <p:nvSpPr>
          <p:cNvPr id="5" name="s6-copy">
            <a:extLst xmlns:a="http://schemas.openxmlformats.org/drawingml/2006/main">
              <a:ext uri="{FF2B5EF4-FFF2-40B4-BE49-F238E27FC236}">
                <a16:creationId xmlns:a16="http://schemas.microsoft.com/office/drawing/2014/main" id="{509EB782-D21A-4217-B231-315B7E8E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6438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>
                <a:solidFill>
                  <a:srgbClr val="DCE4EA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DCE4EA"/>
                </a:solidFill>
                <a:latin typeface="Aptos"/>
                <a:ea typeface="Aptos"/>
                <a:cs typeface="Aptos"/>
              </a:rPr>
              <a:t>OmniLegal is unique because it treats trust as a product feature, not an afterthought.</a:t>
            </a:r>
          </a:p>
        </p:txBody>
      </p:sp>
      <p:sp>
        <p:nvSpPr>
          <p:cNvPr id="6" name="card-u1">
            <a:extLst xmlns:a="http://schemas.openxmlformats.org/drawingml/2006/main">
              <a:ext uri="{FF2B5EF4-FFF2-40B4-BE49-F238E27FC236}">
                <a16:creationId xmlns:a16="http://schemas.microsoft.com/office/drawing/2014/main" id="{5F0F0EF2-293D-4FDE-849D-6F431B73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773" y="781050"/>
            <a:ext cx="4098989" cy="416433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card-title-u1">
            <a:extLst xmlns:a="http://schemas.openxmlformats.org/drawingml/2006/main">
              <a:ext uri="{FF2B5EF4-FFF2-40B4-BE49-F238E27FC236}">
                <a16:creationId xmlns:a16="http://schemas.microsoft.com/office/drawing/2014/main" id="{3FD3D67E-399D-4E91-A160-91AC9208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009650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4A4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4A42"/>
                </a:solidFill>
                <a:latin typeface="Georgia"/>
                <a:ea typeface="Georgia"/>
                <a:cs typeface="Georgia"/>
              </a:rPr>
              <a:t>Citation Forensics</a:t>
            </a:r>
          </a:p>
        </p:txBody>
      </p:sp>
      <p:sp>
        <p:nvSpPr>
          <p:cNvPr id="8" name="card-body-u1">
            <a:extLst xmlns:a="http://schemas.openxmlformats.org/drawingml/2006/main">
              <a:ext uri="{FF2B5EF4-FFF2-40B4-BE49-F238E27FC236}">
                <a16:creationId xmlns:a16="http://schemas.microsoft.com/office/drawing/2014/main" id="{5A1B5DC7-37D4-450D-906D-2A1C26DD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47800"/>
            <a:ext cx="3562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Checks legal prose and labels claims as verified, partial, suspicious, hallucinated, or not found.</a:t>
            </a:r>
          </a:p>
        </p:txBody>
      </p:sp>
      <p:sp>
        <p:nvSpPr>
          <p:cNvPr id="9" name="card-u2">
            <a:extLst xmlns:a="http://schemas.openxmlformats.org/drawingml/2006/main">
              <a:ext uri="{FF2B5EF4-FFF2-40B4-BE49-F238E27FC236}">
                <a16:creationId xmlns:a16="http://schemas.microsoft.com/office/drawing/2014/main" id="{EF0AFD70-4BDF-4160-9A63-562BE79C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8412" y="781050"/>
            <a:ext cx="4098989" cy="416433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title-u2">
            <a:extLst xmlns:a="http://schemas.openxmlformats.org/drawingml/2006/main">
              <a:ext uri="{FF2B5EF4-FFF2-40B4-BE49-F238E27FC236}">
                <a16:creationId xmlns:a16="http://schemas.microsoft.com/office/drawing/2014/main" id="{1C88C9A7-1EEA-43F0-8DE3-2286E868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1009650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F9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F6F9F"/>
                </a:solidFill>
                <a:latin typeface="Georgia"/>
                <a:ea typeface="Georgia"/>
                <a:cs typeface="Georgia"/>
              </a:rPr>
              <a:t>Conflict Atlas</a:t>
            </a:r>
          </a:p>
        </p:txBody>
      </p:sp>
      <p:sp>
        <p:nvSpPr>
          <p:cNvPr id="11" name="card-body-u2">
            <a:extLst xmlns:a="http://schemas.openxmlformats.org/drawingml/2006/main">
              <a:ext uri="{FF2B5EF4-FFF2-40B4-BE49-F238E27FC236}">
                <a16:creationId xmlns:a16="http://schemas.microsoft.com/office/drawing/2014/main" id="{F66A1BB3-0A12-4A07-9C3C-06892B5F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1447800"/>
            <a:ext cx="3562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Maps legal topics across jurisdictions using grounded sources and clearly tagged fallback inference.</a:t>
            </a:r>
          </a:p>
        </p:txBody>
      </p:sp>
      <p:sp>
        <p:nvSpPr>
          <p:cNvPr id="12" name="card-u3">
            <a:extLst xmlns:a="http://schemas.openxmlformats.org/drawingml/2006/main">
              <a:ext uri="{FF2B5EF4-FFF2-40B4-BE49-F238E27FC236}">
                <a16:creationId xmlns:a16="http://schemas.microsoft.com/office/drawing/2014/main" id="{BDD99C0D-58AD-4749-BA1F-6BCF80FD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773" y="5193030"/>
            <a:ext cx="4098989" cy="416433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card-title-u3">
            <a:extLst xmlns:a="http://schemas.openxmlformats.org/drawingml/2006/main">
              <a:ext uri="{FF2B5EF4-FFF2-40B4-BE49-F238E27FC236}">
                <a16:creationId xmlns:a16="http://schemas.microsoft.com/office/drawing/2014/main" id="{F4775CFD-4552-4EC4-A9DC-58F1170C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Multi-persona research</a:t>
            </a:r>
          </a:p>
        </p:txBody>
      </p:sp>
      <p:sp>
        <p:nvSpPr>
          <p:cNvPr id="14" name="card-body-u3">
            <a:extLst xmlns:a="http://schemas.openxmlformats.org/drawingml/2006/main">
              <a:ext uri="{FF2B5EF4-FFF2-40B4-BE49-F238E27FC236}">
                <a16:creationId xmlns:a16="http://schemas.microsoft.com/office/drawing/2014/main" id="{18E03090-FEAB-4EF7-A5C9-43E0A7A6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48350"/>
            <a:ext cx="3562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Researcher, Law Student, Tourist, Layman, and Conflict Detector modes change depth and language.</a:t>
            </a:r>
          </a:p>
        </p:txBody>
      </p:sp>
      <p:sp>
        <p:nvSpPr>
          <p:cNvPr id="15" name="card-u4">
            <a:extLst xmlns:a="http://schemas.openxmlformats.org/drawingml/2006/main">
              <a:ext uri="{FF2B5EF4-FFF2-40B4-BE49-F238E27FC236}">
                <a16:creationId xmlns:a16="http://schemas.microsoft.com/office/drawing/2014/main" id="{ED4A7751-6B2B-40E3-B416-F6B1DC6F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8412" y="5193030"/>
            <a:ext cx="4098989" cy="416433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card-title-u4">
            <a:extLst xmlns:a="http://schemas.openxmlformats.org/drawingml/2006/main">
              <a:ext uri="{FF2B5EF4-FFF2-40B4-BE49-F238E27FC236}">
                <a16:creationId xmlns:a16="http://schemas.microsoft.com/office/drawing/2014/main" id="{2115F2C3-E658-4139-B4A1-78967E50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429250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99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D9991F"/>
                </a:solidFill>
                <a:latin typeface="Georgia"/>
                <a:ea typeface="Georgia"/>
                <a:cs typeface="Georgia"/>
              </a:rPr>
              <a:t>Evaluation-aware build</a:t>
            </a:r>
          </a:p>
        </p:txBody>
      </p:sp>
      <p:sp>
        <p:nvSpPr>
          <p:cNvPr id="17" name="card-body-u4">
            <a:extLst xmlns:a="http://schemas.openxmlformats.org/drawingml/2006/main">
              <a:ext uri="{FF2B5EF4-FFF2-40B4-BE49-F238E27FC236}">
                <a16:creationId xmlns:a16="http://schemas.microsoft.com/office/drawing/2014/main" id="{62B7CF0A-E802-4984-B0E1-598A2989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848350"/>
            <a:ext cx="3562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Smoke tests, citation existence, quote match, completion gates, and documented limitations.</a:t>
            </a:r>
          </a:p>
        </p:txBody>
      </p:sp>
      <p:sp>
        <p:nvSpPr>
          <p:cNvPr id="1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2757F82D-43F8-447D-9D58-E3CB63AD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353550"/>
            <a:ext cx="6591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7E0E6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D7E0E6"/>
                </a:solidFill>
                <a:latin typeface="Aptos"/>
                <a:ea typeface="Aptos"/>
                <a:cs typeface="Aptos"/>
              </a:rPr>
              <a:t>GE 23627 Design Thinking and Innovation | OmniLegal AI</a:t>
            </a:r>
          </a:p>
        </p:txBody>
      </p:sp>
      <p:sp>
        <p:nvSpPr>
          <p:cNvPr id="19" name="footer-no-6">
            <a:extLst xmlns:a="http://schemas.openxmlformats.org/drawingml/2006/main">
              <a:ext uri="{FF2B5EF4-FFF2-40B4-BE49-F238E27FC236}">
                <a16:creationId xmlns:a16="http://schemas.microsoft.com/office/drawing/2014/main" id="{DDF1B3C9-5AF6-40CF-A333-0E070C50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93535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E0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E0E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4676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rk-Methodology">
            <a:extLst xmlns:a="http://schemas.openxmlformats.org/drawingml/2006/main">
              <a:ext uri="{FF2B5EF4-FFF2-40B4-BE49-F238E27FC236}">
                <a16:creationId xmlns:a16="http://schemas.microsoft.com/office/drawing/2014/main" id="{A551C6FB-573B-4D69-B878-95128678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2" name="kicker-text-Methodology">
            <a:extLst xmlns:a="http://schemas.openxmlformats.org/drawingml/2006/main">
              <a:ext uri="{FF2B5EF4-FFF2-40B4-BE49-F238E27FC236}">
                <a16:creationId xmlns:a16="http://schemas.microsoft.com/office/drawing/2014/main" id="{7AEEF35C-A552-49A9-98DE-905F4206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048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9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91F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s7-slide-title">
            <a:extLst xmlns:a="http://schemas.openxmlformats.org/drawingml/2006/main">
              <a:ext uri="{FF2B5EF4-FFF2-40B4-BE49-F238E27FC236}">
                <a16:creationId xmlns:a16="http://schemas.microsoft.com/office/drawing/2014/main" id="{DCC4D27E-A0AA-497A-9E68-CA5ADE94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95440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101419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01419"/>
                </a:solidFill>
                <a:latin typeface="Georgia"/>
                <a:ea typeface="Georgia"/>
                <a:cs typeface="Georgia"/>
              </a:rPr>
              <a:t>From legal text to verified answer</a:t>
            </a:r>
          </a:p>
        </p:txBody>
      </p:sp>
      <p:sp>
        <p:nvSpPr>
          <p:cNvPr id="4" name="s7-slide-subtitle">
            <a:extLst xmlns:a="http://schemas.openxmlformats.org/drawingml/2006/main">
              <a:ext uri="{FF2B5EF4-FFF2-40B4-BE49-F238E27FC236}">
                <a16:creationId xmlns:a16="http://schemas.microsoft.com/office/drawing/2014/main" id="{68DA7B6B-1C8C-4BC7-AC0F-59BC4703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043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69727D"/>
                </a:solidFill>
                <a:latin typeface="Aptos"/>
                <a:ea typeface="Aptos"/>
                <a:cs typeface="Aptos"/>
              </a:rPr>
              <a:t>The methodology follows a retrieval-first pipeline so the model generates from evidence instead of memory.</a:t>
            </a:r>
          </a:p>
        </p:txBody>
      </p:sp>
      <p:sp>
        <p:nvSpPr>
          <p:cNvPr id="5" name="step-m1">
            <a:extLst xmlns:a="http://schemas.openxmlformats.org/drawingml/2006/main">
              <a:ext uri="{FF2B5EF4-FFF2-40B4-BE49-F238E27FC236}">
                <a16:creationId xmlns:a16="http://schemas.microsoft.com/office/drawing/2014/main" id="{CA5FFAA8-919C-4546-9467-374DF9BB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5965"/>
            <a:ext cx="316992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step-title-m1">
            <a:extLst xmlns:a="http://schemas.openxmlformats.org/drawingml/2006/main">
              <a:ext uri="{FF2B5EF4-FFF2-40B4-BE49-F238E27FC236}">
                <a16:creationId xmlns:a16="http://schemas.microsoft.com/office/drawing/2014/main" id="{E72DB15F-922A-4CAA-97B2-9E884775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1. Ingest</a:t>
            </a:r>
          </a:p>
        </p:txBody>
      </p:sp>
      <p:sp>
        <p:nvSpPr>
          <p:cNvPr id="7" name="step-body-m1">
            <a:extLst xmlns:a="http://schemas.openxmlformats.org/drawingml/2006/main">
              <a:ext uri="{FF2B5EF4-FFF2-40B4-BE49-F238E27FC236}">
                <a16:creationId xmlns:a16="http://schemas.microsoft.com/office/drawing/2014/main" id="{33076610-15BF-4023-93DC-392926F7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Parse law texts, PDFs, registries, and datasets into usable chunks.</a:t>
            </a:r>
          </a:p>
        </p:txBody>
      </p:sp>
      <p:sp>
        <p:nvSpPr>
          <p:cNvPr id="8" name="step-m2">
            <a:extLst xmlns:a="http://schemas.openxmlformats.org/drawingml/2006/main">
              <a:ext uri="{FF2B5EF4-FFF2-40B4-BE49-F238E27FC236}">
                <a16:creationId xmlns:a16="http://schemas.microsoft.com/office/drawing/2014/main" id="{D3EC797E-78FE-453B-9C23-09BE4116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720" y="3375965"/>
            <a:ext cx="316992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step-title-m2">
            <a:extLst xmlns:a="http://schemas.openxmlformats.org/drawingml/2006/main">
              <a:ext uri="{FF2B5EF4-FFF2-40B4-BE49-F238E27FC236}">
                <a16:creationId xmlns:a16="http://schemas.microsoft.com/office/drawing/2014/main" id="{C462C421-686D-48F7-9D06-F5AC37E1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8A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8A55"/>
                </a:solidFill>
                <a:latin typeface="Aptos"/>
                <a:ea typeface="Aptos"/>
                <a:cs typeface="Aptos"/>
              </a:rPr>
              <a:t>2. Retrieve</a:t>
            </a:r>
          </a:p>
        </p:txBody>
      </p:sp>
      <p:sp>
        <p:nvSpPr>
          <p:cNvPr id="10" name="step-body-m2">
            <a:extLst xmlns:a="http://schemas.openxmlformats.org/drawingml/2006/main">
              <a:ext uri="{FF2B5EF4-FFF2-40B4-BE49-F238E27FC236}">
                <a16:creationId xmlns:a16="http://schemas.microsoft.com/office/drawing/2014/main" id="{4F75C877-6DB5-4E52-AB6E-7EA1466C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Search relevant passages using vector search, sparse search, and filters.</a:t>
            </a:r>
          </a:p>
        </p:txBody>
      </p:sp>
      <p:sp>
        <p:nvSpPr>
          <p:cNvPr id="11" name="step-m3">
            <a:extLst xmlns:a="http://schemas.openxmlformats.org/drawingml/2006/main">
              <a:ext uri="{FF2B5EF4-FFF2-40B4-BE49-F238E27FC236}">
                <a16:creationId xmlns:a16="http://schemas.microsoft.com/office/drawing/2014/main" id="{365A66C0-9DC6-4C32-891D-DE39933E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375965"/>
            <a:ext cx="316992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step-title-m3">
            <a:extLst xmlns:a="http://schemas.openxmlformats.org/drawingml/2006/main">
              <a:ext uri="{FF2B5EF4-FFF2-40B4-BE49-F238E27FC236}">
                <a16:creationId xmlns:a16="http://schemas.microsoft.com/office/drawing/2014/main" id="{F1433BB4-B972-4CFC-B5EB-21A9EEAC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99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991F"/>
                </a:solidFill>
                <a:latin typeface="Aptos"/>
                <a:ea typeface="Aptos"/>
                <a:cs typeface="Aptos"/>
              </a:rPr>
              <a:t>3. Reason</a:t>
            </a:r>
          </a:p>
        </p:txBody>
      </p:sp>
      <p:sp>
        <p:nvSpPr>
          <p:cNvPr id="13" name="step-body-m3">
            <a:extLst xmlns:a="http://schemas.openxmlformats.org/drawingml/2006/main">
              <a:ext uri="{FF2B5EF4-FFF2-40B4-BE49-F238E27FC236}">
                <a16:creationId xmlns:a16="http://schemas.microsoft.com/office/drawing/2014/main" id="{240AC074-E836-48B6-8C50-A5C8F59C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6715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Generate answer using legal prompts, personas, and workflow context.</a:t>
            </a:r>
          </a:p>
        </p:txBody>
      </p:sp>
      <p:sp>
        <p:nvSpPr>
          <p:cNvPr id="14" name="step-m4">
            <a:extLst xmlns:a="http://schemas.openxmlformats.org/drawingml/2006/main">
              <a:ext uri="{FF2B5EF4-FFF2-40B4-BE49-F238E27FC236}">
                <a16:creationId xmlns:a16="http://schemas.microsoft.com/office/drawing/2014/main" id="{AF6E57A0-4CC6-4195-8EA1-6501CDD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3375965"/>
            <a:ext cx="316992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step-title-m4">
            <a:extLst xmlns:a="http://schemas.openxmlformats.org/drawingml/2006/main">
              <a:ext uri="{FF2B5EF4-FFF2-40B4-BE49-F238E27FC236}">
                <a16:creationId xmlns:a16="http://schemas.microsoft.com/office/drawing/2014/main" id="{B779B9B2-3F19-405D-85AE-6D44AA86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5433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A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84A42"/>
                </a:solidFill>
                <a:latin typeface="Aptos"/>
                <a:ea typeface="Aptos"/>
                <a:cs typeface="Aptos"/>
              </a:rPr>
              <a:t>4. Verify</a:t>
            </a:r>
          </a:p>
        </p:txBody>
      </p:sp>
      <p:sp>
        <p:nvSpPr>
          <p:cNvPr id="16" name="step-body-m4">
            <a:extLst xmlns:a="http://schemas.openxmlformats.org/drawingml/2006/main">
              <a:ext uri="{FF2B5EF4-FFF2-40B4-BE49-F238E27FC236}">
                <a16:creationId xmlns:a16="http://schemas.microsoft.com/office/drawing/2014/main" id="{54BAA5BF-C565-438D-A369-B2604A9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6715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Check citations, quote match, source support, and hallucination risk.</a:t>
            </a:r>
          </a:p>
        </p:txBody>
      </p:sp>
      <p:sp>
        <p:nvSpPr>
          <p:cNvPr id="17" name="step-m5">
            <a:extLst xmlns:a="http://schemas.openxmlformats.org/drawingml/2006/main">
              <a:ext uri="{FF2B5EF4-FFF2-40B4-BE49-F238E27FC236}">
                <a16:creationId xmlns:a16="http://schemas.microsoft.com/office/drawing/2014/main" id="{95C19230-AF14-4E06-8DC4-913F7694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680" y="3375965"/>
            <a:ext cx="316992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step-title-m5">
            <a:extLst xmlns:a="http://schemas.openxmlformats.org/drawingml/2006/main">
              <a:ext uri="{FF2B5EF4-FFF2-40B4-BE49-F238E27FC236}">
                <a16:creationId xmlns:a16="http://schemas.microsoft.com/office/drawing/2014/main" id="{2361B31B-34A7-4D2C-9154-C7BA7B50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35433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232D"/>
                </a:solidFill>
                <a:latin typeface="Aptos"/>
                <a:ea typeface="Aptos"/>
                <a:cs typeface="Aptos"/>
              </a:rPr>
              <a:t>5. Present</a:t>
            </a:r>
          </a:p>
        </p:txBody>
      </p:sp>
      <p:sp>
        <p:nvSpPr>
          <p:cNvPr id="19" name="step-body-m5">
            <a:extLst xmlns:a="http://schemas.openxmlformats.org/drawingml/2006/main">
              <a:ext uri="{FF2B5EF4-FFF2-40B4-BE49-F238E27FC236}">
                <a16:creationId xmlns:a16="http://schemas.microsoft.com/office/drawing/2014/main" id="{83EB3312-C2A9-4930-9023-CC5391C0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3867150"/>
            <a:ext cx="2743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1B232D"/>
                </a:solidFill>
                <a:latin typeface="Aptos"/>
                <a:ea typeface="Aptos"/>
                <a:cs typeface="Aptos"/>
              </a:rPr>
              <a:t>Show answer, citations, map, IRAC, or report in the UI.</a:t>
            </a:r>
          </a:p>
        </p:txBody>
      </p:sp>
      <p:sp>
        <p:nvSpPr>
          <p:cNvPr id="20" name="card-m-a">
            <a:extLst xmlns:a="http://schemas.openxmlformats.org/drawingml/2006/main">
              <a:ext uri="{FF2B5EF4-FFF2-40B4-BE49-F238E27FC236}">
                <a16:creationId xmlns:a16="http://schemas.microsoft.com/office/drawing/2014/main" id="{CFB68981-2236-4CDB-98B0-DA22C070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5715"/>
            <a:ext cx="5295900" cy="3962095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card-title-m-a">
            <a:extLst xmlns:a="http://schemas.openxmlformats.org/drawingml/2006/main">
              <a:ext uri="{FF2B5EF4-FFF2-40B4-BE49-F238E27FC236}">
                <a16:creationId xmlns:a16="http://schemas.microsoft.com/office/drawing/2014/main" id="{66A4D6A2-C356-4212-AA56-FFD49680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102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F9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F6F9F"/>
                </a:solidFill>
                <a:latin typeface="Georgia"/>
                <a:ea typeface="Georgia"/>
                <a:cs typeface="Georgia"/>
              </a:rPr>
              <a:t>Frontend</a:t>
            </a:r>
          </a:p>
        </p:txBody>
      </p:sp>
      <p:sp>
        <p:nvSpPr>
          <p:cNvPr id="22" name="card-body-m-a">
            <a:extLst xmlns:a="http://schemas.openxmlformats.org/drawingml/2006/main">
              <a:ext uri="{FF2B5EF4-FFF2-40B4-BE49-F238E27FC236}">
                <a16:creationId xmlns:a16="http://schemas.microsoft.com/office/drawing/2014/main" id="{DCBAE6B0-995F-4696-925E-2A761D6B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48350"/>
            <a:ext cx="476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React pages and Chainlit chat give task-based workflows instead of a blank chatbot.</a:t>
            </a:r>
          </a:p>
        </p:txBody>
      </p:sp>
      <p:sp>
        <p:nvSpPr>
          <p:cNvPr id="23" name="card-m-b">
            <a:extLst xmlns:a="http://schemas.openxmlformats.org/drawingml/2006/main">
              <a:ext uri="{FF2B5EF4-FFF2-40B4-BE49-F238E27FC236}">
                <a16:creationId xmlns:a16="http://schemas.microsoft.com/office/drawing/2014/main" id="{22799C76-664E-4F00-8C11-1112789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85715"/>
            <a:ext cx="5295900" cy="3962095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card-title-m-b">
            <a:extLst xmlns:a="http://schemas.openxmlformats.org/drawingml/2006/main">
              <a:ext uri="{FF2B5EF4-FFF2-40B4-BE49-F238E27FC236}">
                <a16:creationId xmlns:a16="http://schemas.microsoft.com/office/drawing/2014/main" id="{CB0DCD40-B45C-4E3D-877E-79695EF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02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Backend</a:t>
            </a:r>
          </a:p>
        </p:txBody>
      </p:sp>
      <p:sp>
        <p:nvSpPr>
          <p:cNvPr id="25" name="card-body-m-b">
            <a:extLst xmlns:a="http://schemas.openxmlformats.org/drawingml/2006/main">
              <a:ext uri="{FF2B5EF4-FFF2-40B4-BE49-F238E27FC236}">
                <a16:creationId xmlns:a16="http://schemas.microsoft.com/office/drawing/2014/main" id="{8E439E03-95CC-4E51-BB78-6C5AD298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48350"/>
            <a:ext cx="476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FastAPI routers expose atlas, forensics, advocacy, live search, council, research, and comparative endpoints.</a:t>
            </a:r>
          </a:p>
        </p:txBody>
      </p:sp>
      <p:sp>
        <p:nvSpPr>
          <p:cNvPr id="26" name="card-m-c">
            <a:extLst xmlns:a="http://schemas.openxmlformats.org/drawingml/2006/main">
              <a:ext uri="{FF2B5EF4-FFF2-40B4-BE49-F238E27FC236}">
                <a16:creationId xmlns:a16="http://schemas.microsoft.com/office/drawing/2014/main" id="{5EEE1CEB-B95D-4BF6-AE27-7697A13D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185715"/>
            <a:ext cx="5295900" cy="3962095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card-title-m-c">
            <a:extLst xmlns:a="http://schemas.openxmlformats.org/drawingml/2006/main">
              <a:ext uri="{FF2B5EF4-FFF2-40B4-BE49-F238E27FC236}">
                <a16:creationId xmlns:a16="http://schemas.microsoft.com/office/drawing/2014/main" id="{720A22D7-6B2E-4E23-9A02-BA005069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4102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4A4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4A42"/>
                </a:solidFill>
                <a:latin typeface="Georgia"/>
                <a:ea typeface="Georgia"/>
                <a:cs typeface="Georgia"/>
              </a:rPr>
              <a:t>Pipeline</a:t>
            </a:r>
          </a:p>
        </p:txBody>
      </p:sp>
      <p:sp>
        <p:nvSpPr>
          <p:cNvPr id="28" name="card-body-m-c">
            <a:extLst xmlns:a="http://schemas.openxmlformats.org/drawingml/2006/main">
              <a:ext uri="{FF2B5EF4-FFF2-40B4-BE49-F238E27FC236}">
                <a16:creationId xmlns:a16="http://schemas.microsoft.com/office/drawing/2014/main" id="{39EB6EC8-AD76-4987-9F41-B7AD240B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848350"/>
            <a:ext cx="476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Classifier, entity extractor, retriever, reranker, synthesizer, source gate, and citation verifier.</a:t>
            </a:r>
          </a:p>
        </p:txBody>
      </p:sp>
      <p:sp>
        <p:nvSpPr>
          <p:cNvPr id="2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36A99BB7-AAB9-46DC-9D53-10110284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0"/>
            <a:ext cx="1584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9727D"/>
                </a:solidFill>
                <a:latin typeface="Aptos"/>
                <a:ea typeface="Aptos"/>
                <a:cs typeface="Aptos"/>
              </a:rPr>
              <a:t>GE 23627 Design Thinking and Innovation | OmniLegal AI</a:t>
            </a:r>
          </a:p>
        </p:txBody>
      </p:sp>
      <p:sp>
        <p:nvSpPr>
          <p:cNvPr id="30" name="footer-no-7">
            <a:extLst xmlns:a="http://schemas.openxmlformats.org/drawingml/2006/main">
              <a:ext uri="{FF2B5EF4-FFF2-40B4-BE49-F238E27FC236}">
                <a16:creationId xmlns:a16="http://schemas.microsoft.com/office/drawing/2014/main" id="{F8C6AFB9-1F48-4FED-937E-D46D4118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4297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972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7006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rk-Output">
            <a:extLst xmlns:a="http://schemas.openxmlformats.org/drawingml/2006/main">
              <a:ext uri="{FF2B5EF4-FFF2-40B4-BE49-F238E27FC236}">
                <a16:creationId xmlns:a16="http://schemas.microsoft.com/office/drawing/2014/main" id="{8F9FE8EB-C68B-4787-8136-F6F84CBA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</p:spPr>
      </p:sp>
      <p:sp>
        <p:nvSpPr>
          <p:cNvPr id="2" name="kicker-text-Output">
            <a:extLst xmlns:a="http://schemas.openxmlformats.org/drawingml/2006/main">
              <a:ext uri="{FF2B5EF4-FFF2-40B4-BE49-F238E27FC236}">
                <a16:creationId xmlns:a16="http://schemas.microsoft.com/office/drawing/2014/main" id="{FB8FD73C-CFFF-4179-963F-81EC87FF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048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" name="s8-slide-title">
            <a:extLst xmlns:a="http://schemas.openxmlformats.org/drawingml/2006/main">
              <a:ext uri="{FF2B5EF4-FFF2-40B4-BE49-F238E27FC236}">
                <a16:creationId xmlns:a16="http://schemas.microsoft.com/office/drawing/2014/main" id="{12C9E5C0-49F4-40A9-9396-A2B85E5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26682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101419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101419"/>
                </a:solidFill>
                <a:latin typeface="Georgia"/>
                <a:ea typeface="Georgia"/>
                <a:cs typeface="Georgia"/>
              </a:rPr>
              <a:t>The prototype produces multiple user-facing legal research outputs</a:t>
            </a:r>
          </a:p>
        </p:txBody>
      </p:sp>
      <p:sp>
        <p:nvSpPr>
          <p:cNvPr id="4" name="s8-slide-subtitle">
            <a:extLst xmlns:a="http://schemas.openxmlformats.org/drawingml/2006/main">
              <a:ext uri="{FF2B5EF4-FFF2-40B4-BE49-F238E27FC236}">
                <a16:creationId xmlns:a16="http://schemas.microsoft.com/office/drawing/2014/main" id="{B4ACAE12-3B3B-4C71-A060-916CE117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69727D"/>
                </a:solidFill>
                <a:latin typeface="Aptos"/>
                <a:ea typeface="Aptos"/>
                <a:cs typeface="Aptos"/>
              </a:rPr>
              <a:t>Each output corresponds to a real user need discovered during design thinking.</a:t>
            </a:r>
          </a:p>
        </p:txBody>
      </p:sp>
      <p:sp>
        <p:nvSpPr>
          <p:cNvPr id="5" name="card-o1">
            <a:extLst xmlns:a="http://schemas.openxmlformats.org/drawingml/2006/main">
              <a:ext uri="{FF2B5EF4-FFF2-40B4-BE49-F238E27FC236}">
                <a16:creationId xmlns:a16="http://schemas.microsoft.com/office/drawing/2014/main" id="{E2C19FFD-8A6C-4EB0-BCE0-4ECF386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6875"/>
            <a:ext cx="8096250" cy="2653703"/>
          </a:xfrm>
          <a:prstGeom xmlns:a="http://schemas.openxmlformats.org/drawingml/2006/main" prst="roundRect">
            <a:avLst>
              <a:gd name="adj" fmla="val 43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title-o1">
            <a:extLst xmlns:a="http://schemas.openxmlformats.org/drawingml/2006/main">
              <a:ext uri="{FF2B5EF4-FFF2-40B4-BE49-F238E27FC236}">
                <a16:creationId xmlns:a16="http://schemas.microsoft.com/office/drawing/2014/main" id="{EC209ED8-887A-4799-AFEC-E67F971D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Research answer</a:t>
            </a:r>
          </a:p>
        </p:txBody>
      </p:sp>
      <p:sp>
        <p:nvSpPr>
          <p:cNvPr id="7" name="card-body-o1">
            <a:extLst xmlns:a="http://schemas.openxmlformats.org/drawingml/2006/main">
              <a:ext uri="{FF2B5EF4-FFF2-40B4-BE49-F238E27FC236}">
                <a16:creationId xmlns:a16="http://schemas.microsoft.com/office/drawing/2014/main" id="{CB886A5F-FE70-43C1-8A4A-772B3717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Persona-based cited legal explanation with source passages and verification status.</a:t>
            </a:r>
          </a:p>
        </p:txBody>
      </p:sp>
      <p:sp>
        <p:nvSpPr>
          <p:cNvPr id="8" name="card-o2">
            <a:extLst xmlns:a="http://schemas.openxmlformats.org/drawingml/2006/main">
              <a:ext uri="{FF2B5EF4-FFF2-40B4-BE49-F238E27FC236}">
                <a16:creationId xmlns:a16="http://schemas.microsoft.com/office/drawing/2014/main" id="{0EF7D870-EB25-497A-9192-1818FC91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36875"/>
            <a:ext cx="8096250" cy="2653703"/>
          </a:xfrm>
          <a:prstGeom xmlns:a="http://schemas.openxmlformats.org/drawingml/2006/main" prst="roundRect">
            <a:avLst>
              <a:gd name="adj" fmla="val 43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card-title-o2">
            <a:extLst xmlns:a="http://schemas.openxmlformats.org/drawingml/2006/main">
              <a:ext uri="{FF2B5EF4-FFF2-40B4-BE49-F238E27FC236}">
                <a16:creationId xmlns:a16="http://schemas.microsoft.com/office/drawing/2014/main" id="{4650CD0E-CC53-4AC9-BF8D-164CC93B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4A4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4A42"/>
                </a:solidFill>
                <a:latin typeface="Georgia"/>
                <a:ea typeface="Georgia"/>
                <a:cs typeface="Georgia"/>
              </a:rPr>
              <a:t>Citation audit</a:t>
            </a:r>
          </a:p>
        </p:txBody>
      </p:sp>
      <p:sp>
        <p:nvSpPr>
          <p:cNvPr id="10" name="card-body-o2">
            <a:extLst xmlns:a="http://schemas.openxmlformats.org/drawingml/2006/main">
              <a:ext uri="{FF2B5EF4-FFF2-40B4-BE49-F238E27FC236}">
                <a16:creationId xmlns:a16="http://schemas.microsoft.com/office/drawing/2014/main" id="{67036365-0790-49C2-8C35-CDBDC4E6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957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Annotated legal prose showing which citations are verified or risky.</a:t>
            </a:r>
          </a:p>
        </p:txBody>
      </p:sp>
      <p:sp>
        <p:nvSpPr>
          <p:cNvPr id="11" name="card-o3">
            <a:extLst xmlns:a="http://schemas.openxmlformats.org/drawingml/2006/main">
              <a:ext uri="{FF2B5EF4-FFF2-40B4-BE49-F238E27FC236}">
                <a16:creationId xmlns:a16="http://schemas.microsoft.com/office/drawing/2014/main" id="{1E29EA5A-9350-42D9-ABB2-7A401BE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7278"/>
            <a:ext cx="8096250" cy="2653703"/>
          </a:xfrm>
          <a:prstGeom xmlns:a="http://schemas.openxmlformats.org/drawingml/2006/main" prst="roundRect">
            <a:avLst>
              <a:gd name="adj" fmla="val 43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card-title-o3">
            <a:extLst xmlns:a="http://schemas.openxmlformats.org/drawingml/2006/main">
              <a:ext uri="{FF2B5EF4-FFF2-40B4-BE49-F238E27FC236}">
                <a16:creationId xmlns:a16="http://schemas.microsoft.com/office/drawing/2014/main" id="{6B487021-5FB1-46FA-90AD-5EA19C87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912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F9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F6F9F"/>
                </a:solidFill>
                <a:latin typeface="Georgia"/>
                <a:ea typeface="Georgia"/>
                <a:cs typeface="Georgia"/>
              </a:rPr>
              <a:t>Comparative analysis</a:t>
            </a:r>
          </a:p>
        </p:txBody>
      </p:sp>
      <p:sp>
        <p:nvSpPr>
          <p:cNvPr id="13" name="card-body-o3">
            <a:extLst xmlns:a="http://schemas.openxmlformats.org/drawingml/2006/main">
              <a:ext uri="{FF2B5EF4-FFF2-40B4-BE49-F238E27FC236}">
                <a16:creationId xmlns:a16="http://schemas.microsoft.com/office/drawing/2014/main" id="{3B269582-5011-4C06-9FE1-1903416D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6294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Jurisdiction-wise IRAC with agreements, conflicts, and legal gaps.</a:t>
            </a:r>
          </a:p>
        </p:txBody>
      </p:sp>
      <p:sp>
        <p:nvSpPr>
          <p:cNvPr id="14" name="card-o4">
            <a:extLst xmlns:a="http://schemas.openxmlformats.org/drawingml/2006/main">
              <a:ext uri="{FF2B5EF4-FFF2-40B4-BE49-F238E27FC236}">
                <a16:creationId xmlns:a16="http://schemas.microsoft.com/office/drawing/2014/main" id="{C51FC583-23C3-4AA7-8B9B-78D36F3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57278"/>
            <a:ext cx="8096250" cy="2653703"/>
          </a:xfrm>
          <a:prstGeom xmlns:a="http://schemas.openxmlformats.org/drawingml/2006/main" prst="roundRect">
            <a:avLst>
              <a:gd name="adj" fmla="val 43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card-title-o4">
            <a:extLst xmlns:a="http://schemas.openxmlformats.org/drawingml/2006/main">
              <a:ext uri="{FF2B5EF4-FFF2-40B4-BE49-F238E27FC236}">
                <a16:creationId xmlns:a16="http://schemas.microsoft.com/office/drawing/2014/main" id="{654186F9-4B18-40BD-8B10-28A1419F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1912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99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D9991F"/>
                </a:solidFill>
                <a:latin typeface="Georgia"/>
                <a:ea typeface="Georgia"/>
                <a:cs typeface="Georgia"/>
              </a:rPr>
              <a:t>Presentation material</a:t>
            </a:r>
          </a:p>
        </p:txBody>
      </p:sp>
      <p:sp>
        <p:nvSpPr>
          <p:cNvPr id="16" name="card-body-o4">
            <a:extLst xmlns:a="http://schemas.openxmlformats.org/drawingml/2006/main">
              <a:ext uri="{FF2B5EF4-FFF2-40B4-BE49-F238E27FC236}">
                <a16:creationId xmlns:a16="http://schemas.microsoft.com/office/drawing/2014/main" id="{15186E57-F795-41D5-A943-3EC1402D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6294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Advocacy packets, position papers, opening speeches, rebuttal cards, and reports.</a:t>
            </a:r>
          </a:p>
        </p:txBody>
      </p:sp>
      <p:sp>
        <p:nvSpPr>
          <p:cNvPr id="17" name="s8-label">
            <a:extLst xmlns:a="http://schemas.openxmlformats.org/drawingml/2006/main">
              <a:ext uri="{FF2B5EF4-FFF2-40B4-BE49-F238E27FC236}">
                <a16:creationId xmlns:a16="http://schemas.microsoft.com/office/drawing/2014/main" id="{AA92D5CF-A782-4F4B-91D6-E1EB812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773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4A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4A42"/>
                </a:solidFill>
                <a:latin typeface="Aptos"/>
                <a:ea typeface="Aptos"/>
                <a:cs typeface="Aptos"/>
              </a:rPr>
              <a:t>Example result:</a:t>
            </a:r>
          </a:p>
        </p:txBody>
      </p:sp>
      <p:sp>
        <p:nvSpPr>
          <p:cNvPr id="18" name="s8-example">
            <a:extLst xmlns:a="http://schemas.openxmlformats.org/drawingml/2006/main">
              <a:ext uri="{FF2B5EF4-FFF2-40B4-BE49-F238E27FC236}">
                <a16:creationId xmlns:a16="http://schemas.microsoft.com/office/drawing/2014/main" id="{9F470256-006D-4709-AD93-62669AFC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877300"/>
            <a:ext cx="1449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B232D"/>
                </a:solidFill>
                <a:latin typeface="Aptos"/>
                <a:ea typeface="Aptos"/>
                <a:cs typeface="Aptos"/>
              </a:rPr>
              <a:t>A user asks about erga omnes obligations. OmniLegal returns a legal explanation with citation markers and a citation rail showing sources.</a:t>
            </a:r>
          </a:p>
        </p:txBody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584ED32-CED2-4FF8-A321-79D3E36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0"/>
            <a:ext cx="1584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9727D"/>
                </a:solidFill>
                <a:latin typeface="Aptos"/>
                <a:ea typeface="Aptos"/>
                <a:cs typeface="Aptos"/>
              </a:rPr>
              <a:t>GE 23627 Design Thinking and Innovation | OmniLegal AI</a:t>
            </a:r>
          </a:p>
        </p:txBody>
      </p:sp>
      <p:sp>
        <p:nvSpPr>
          <p:cNvPr id="20" name="footer-no-8">
            <a:extLst xmlns:a="http://schemas.openxmlformats.org/drawingml/2006/main">
              <a:ext uri="{FF2B5EF4-FFF2-40B4-BE49-F238E27FC236}">
                <a16:creationId xmlns:a16="http://schemas.microsoft.com/office/drawing/2014/main" id="{F0333151-FAD5-44E7-BCE2-9981559E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4297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72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972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6509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rk-Output screenshots">
            <a:extLst xmlns:a="http://schemas.openxmlformats.org/drawingml/2006/main">
              <a:ext uri="{FF2B5EF4-FFF2-40B4-BE49-F238E27FC236}">
                <a16:creationId xmlns:a16="http://schemas.microsoft.com/office/drawing/2014/main" id="{E6E2E4AE-3B9F-4A1C-AF1C-8E00AEB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1F"/>
          </a:solidFill>
        </p:spPr>
      </p:sp>
      <p:sp>
        <p:nvSpPr>
          <p:cNvPr id="2" name="kicker-text-Output screenshots">
            <a:extLst xmlns:a="http://schemas.openxmlformats.org/drawingml/2006/main">
              <a:ext uri="{FF2B5EF4-FFF2-40B4-BE49-F238E27FC236}">
                <a16:creationId xmlns:a16="http://schemas.microsoft.com/office/drawing/2014/main" id="{9C2A1AB7-152C-4D3C-A701-D9B43A2C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9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91F"/>
                </a:solidFill>
                <a:latin typeface="Aptos"/>
                <a:ea typeface="Aptos"/>
                <a:cs typeface="Aptos"/>
              </a:rPr>
              <a:t>OUTPUT SCREENSHOTS</a:t>
            </a:r>
          </a:p>
        </p:txBody>
      </p:sp>
      <p:sp>
        <p:nvSpPr>
          <p:cNvPr id="3" name="s9-slide-title">
            <a:extLst xmlns:a="http://schemas.openxmlformats.org/drawingml/2006/main">
              <a:ext uri="{FF2B5EF4-FFF2-40B4-BE49-F238E27FC236}">
                <a16:creationId xmlns:a16="http://schemas.microsoft.com/office/drawing/2014/main" id="{18432C23-4FA2-49E3-8E2E-BFB2DD25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1550"/>
            <a:ext cx="7734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Working prototype screens</a:t>
            </a:r>
          </a:p>
        </p:txBody>
      </p:sp>
      <p:sp>
        <p:nvSpPr>
          <p:cNvPr id="4" name="s9-slide-subtitle">
            <a:extLst xmlns:a="http://schemas.openxmlformats.org/drawingml/2006/main">
              <a:ext uri="{FF2B5EF4-FFF2-40B4-BE49-F238E27FC236}">
                <a16:creationId xmlns:a16="http://schemas.microsoft.com/office/drawing/2014/main" id="{84A1ABF6-C4EE-4A89-8B25-8AF234C1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1620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>
                <a:solidFill>
                  <a:srgbClr val="D8E0E6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D8E0E6"/>
                </a:solidFill>
                <a:latin typeface="Aptos"/>
                <a:ea typeface="Aptos"/>
                <a:cs typeface="Aptos"/>
              </a:rPr>
              <a:t>Screenshots from the local React interface show how users interact with the research, atlas, and comparative workflows.</a:t>
            </a:r>
          </a:p>
        </p:txBody>
      </p:sp>
      <p:sp>
        <p:nvSpPr>
          <p:cNvPr id="5" name="s9-research-panel">
            <a:extLst xmlns:a="http://schemas.openxmlformats.org/drawingml/2006/main">
              <a:ext uri="{FF2B5EF4-FFF2-40B4-BE49-F238E27FC236}">
                <a16:creationId xmlns:a16="http://schemas.microsoft.com/office/drawing/2014/main" id="{3EB7FB86-2622-406F-8272-C67F12EA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6192"/>
            <a:ext cx="9000173" cy="6674968"/>
          </a:xfrm>
          <a:prstGeom xmlns:a="http://schemas.openxmlformats.org/drawingml/2006/main" prst="roundRect">
            <a:avLst>
              <a:gd name="adj" fmla="val 1998"/>
            </a:avLst>
          </a:prstGeom>
          <a:solidFill xmlns:a="http://schemas.openxmlformats.org/drawingml/2006/main">
            <a:srgbClr val="1B232D"/>
          </a:solidFill>
        </p:spPr>
      </p:sp>
      <p:sp>
        <p:nvSpPr>
          <p:cNvPr id="6" name="shot-frame-research">
            <a:extLst xmlns:a="http://schemas.openxmlformats.org/drawingml/2006/main">
              <a:ext uri="{FF2B5EF4-FFF2-40B4-BE49-F238E27FC236}">
                <a16:creationId xmlns:a16="http://schemas.microsoft.com/office/drawing/2014/main" id="{FDECA67F-96D2-41A2-AC8E-D902F325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6192"/>
            <a:ext cx="9000173" cy="6674968"/>
          </a:xfrm>
          <a:prstGeom xmlns:a="http://schemas.openxmlformats.org/drawingml/2006/main" prst="roundRect">
            <a:avLst>
              <a:gd name="adj" fmla="val 1712"/>
            </a:avLst>
          </a:prstGeom>
          <a:solidFill xmlns:a="http://schemas.openxmlformats.org/drawingml/2006/main">
            <a:srgbClr val="101419"/>
          </a:solidFill>
        </p:spPr>
      </p:sp>
      <p:pic>
        <p:nvPicPr>
          <p:cNvPr id="7" name="shot-research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d9819a0ed4601"/>
          <a:stretch xmlns:a="http://schemas.openxmlformats.org/drawingml/2006/main"/>
        </p:blipFill>
        <p:spPr>
          <a:xfrm xmlns:a="http://schemas.openxmlformats.org/drawingml/2006/main">
            <a:off x="838200" y="3131122"/>
            <a:ext cx="9000173" cy="5625108"/>
          </a:xfrm>
          <a:prstGeom xmlns:a="http://schemas.openxmlformats.org/drawingml/2006/main" prst="rect">
            <a:avLst/>
          </a:prstGeom>
        </p:spPr>
      </p:pic>
      <p:sp>
        <p:nvSpPr>
          <p:cNvPr id="8" name="shot-frame-atlas">
            <a:extLst xmlns:a="http://schemas.openxmlformats.org/drawingml/2006/main">
              <a:ext uri="{FF2B5EF4-FFF2-40B4-BE49-F238E27FC236}">
                <a16:creationId xmlns:a16="http://schemas.microsoft.com/office/drawing/2014/main" id="{BE03C2BF-02D9-4007-B51B-B66B24BD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2606192"/>
            <a:ext cx="7363778" cy="3213659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101419"/>
          </a:solidFill>
        </p:spPr>
      </p:sp>
      <p:pic>
        <p:nvPicPr>
          <p:cNvPr id="9" name="shot-atla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d57080bb548e4"/>
          <a:stretch xmlns:a="http://schemas.openxmlformats.org/drawingml/2006/main"/>
        </p:blipFill>
        <p:spPr>
          <a:xfrm xmlns:a="http://schemas.openxmlformats.org/drawingml/2006/main">
            <a:off x="11196984" y="2606192"/>
            <a:ext cx="5141854" cy="3213659"/>
          </a:xfrm>
          <a:prstGeom xmlns:a="http://schemas.openxmlformats.org/drawingml/2006/main" prst="rect">
            <a:avLst/>
          </a:prstGeom>
        </p:spPr>
      </p:pic>
      <p:sp>
        <p:nvSpPr>
          <p:cNvPr id="10" name="shot-frame-comparative">
            <a:extLst xmlns:a="http://schemas.openxmlformats.org/drawingml/2006/main">
              <a:ext uri="{FF2B5EF4-FFF2-40B4-BE49-F238E27FC236}">
                <a16:creationId xmlns:a16="http://schemas.microsoft.com/office/drawing/2014/main" id="{F3C783B1-AFD0-42C5-89AA-37CF43D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6067501"/>
            <a:ext cx="7363778" cy="3213659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101419"/>
          </a:solidFill>
        </p:spPr>
      </p:sp>
      <p:pic>
        <p:nvPicPr>
          <p:cNvPr id="11" name="shot-comparativ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1693c968945eb"/>
          <a:stretch xmlns:a="http://schemas.openxmlformats.org/drawingml/2006/main"/>
        </p:blipFill>
        <p:spPr>
          <a:xfrm xmlns:a="http://schemas.openxmlformats.org/drawingml/2006/main">
            <a:off x="11196984" y="6067501"/>
            <a:ext cx="5141854" cy="3213659"/>
          </a:xfrm>
          <a:prstGeom xmlns:a="http://schemas.openxmlformats.org/drawingml/2006/main" prst="rect">
            <a:avLst/>
          </a:prstGeom>
        </p:spPr>
      </p:pic>
      <p:sp>
        <p:nvSpPr>
          <p:cNvPr id="12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46510CD5-4014-4341-B72E-BFE63692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05950"/>
            <a:ext cx="1600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7E0E6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D7E0E6"/>
                </a:solidFill>
                <a:latin typeface="Aptos"/>
                <a:ea typeface="Aptos"/>
                <a:cs typeface="Aptos"/>
              </a:rPr>
              <a:t>GE 23627 Design Thinking and Innovation | OmniLegal AI</a:t>
            </a:r>
          </a:p>
        </p:txBody>
      </p:sp>
      <p:sp>
        <p:nvSpPr>
          <p:cNvPr id="13" name="footer-no-9">
            <a:extLst xmlns:a="http://schemas.openxmlformats.org/drawingml/2006/main">
              <a:ext uri="{FF2B5EF4-FFF2-40B4-BE49-F238E27FC236}">
                <a16:creationId xmlns:a16="http://schemas.microsoft.com/office/drawing/2014/main" id="{FFC2D751-BBB4-4683-9837-561FC4AE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95059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E0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E0E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6130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top">
            <a:extLst xmlns:a="http://schemas.openxmlformats.org/drawingml/2006/main">
              <a:ext uri="{FF2B5EF4-FFF2-40B4-BE49-F238E27FC236}">
                <a16:creationId xmlns:a16="http://schemas.microsoft.com/office/drawing/2014/main" id="{D2537BC5-0CA9-4588-9D9C-FC3770F8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1F"/>
          </a:solidFill>
          <a:ln xmlns:a="http://schemas.openxmlformats.org/drawingml/2006/main" w="0">
            <a:solidFill>
              <a:srgbClr val="D9991F"/>
            </a:solidFill>
          </a:ln>
        </p:spPr>
      </p:sp>
      <p:sp>
        <p:nvSpPr>
          <p:cNvPr id="2" name="s10-bottom">
            <a:extLst xmlns:a="http://schemas.openxmlformats.org/drawingml/2006/main">
              <a:ext uri="{FF2B5EF4-FFF2-40B4-BE49-F238E27FC236}">
                <a16:creationId xmlns:a16="http://schemas.microsoft.com/office/drawing/2014/main" id="{EB3C8B75-EBFD-405A-9A33-C4697222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963150"/>
            <a:ext cx="1828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32D"/>
          </a:solidFill>
          <a:ln xmlns:a="http://schemas.openxmlformats.org/drawingml/2006/main" w="0">
            <a:solidFill>
              <a:srgbClr val="1B232D"/>
            </a:solidFill>
          </a:ln>
        </p:spPr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E1FE4E5B-F5BD-4548-8086-B0B84CFF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7750"/>
            <a:ext cx="16002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00" b="1">
                <a:solidFill>
                  <a:srgbClr val="101419"/>
                </a:solidFill>
                <a:latin typeface="Georgia"/>
                <a:ea typeface="Georgia"/>
                <a:cs typeface="Georgia"/>
              </a:defRPr>
            </a:pPr>
            <a:r>
              <a:rPr sz="7800" b="1">
                <a:solidFill>
                  <a:srgbClr val="101419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4" name="s10-subtitle">
            <a:extLst xmlns:a="http://schemas.openxmlformats.org/drawingml/2006/main">
              <a:ext uri="{FF2B5EF4-FFF2-40B4-BE49-F238E27FC236}">
                <a16:creationId xmlns:a16="http://schemas.microsoft.com/office/drawing/2014/main" id="{C9D3E9D7-5D15-45DC-99F8-18C7B126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1600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99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991F"/>
                </a:solidFill>
                <a:latin typeface="Aptos"/>
                <a:ea typeface="Aptos"/>
                <a:cs typeface="Aptos"/>
              </a:rPr>
              <a:t>OmniLegal AI | Design Thinking Semester Review</a:t>
            </a:r>
          </a:p>
        </p:txBody>
      </p:sp>
      <p:sp>
        <p:nvSpPr>
          <p:cNvPr id="5" name="s10-team">
            <a:extLst xmlns:a="http://schemas.openxmlformats.org/drawingml/2006/main">
              <a:ext uri="{FF2B5EF4-FFF2-40B4-BE49-F238E27FC236}">
                <a16:creationId xmlns:a16="http://schemas.microsoft.com/office/drawing/2014/main" id="{FB010101-157A-4521-AA76-F5815493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1600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1B232D"/>
                </a:solidFill>
                <a:latin typeface="Aptos"/>
                <a:ea typeface="Aptos"/>
                <a:cs typeface="Aptos"/>
              </a:rPr>
              <a:t>Presented by HEMAKUMAR U, VISWESWAR, and SANJAY N</a:t>
            </a:r>
          </a:p>
        </p:txBody>
      </p:sp>
      <p:sp>
        <p:nvSpPr>
          <p:cNvPr id="6" name="card-t1">
            <a:extLst xmlns:a="http://schemas.openxmlformats.org/drawingml/2006/main">
              <a:ext uri="{FF2B5EF4-FFF2-40B4-BE49-F238E27FC236}">
                <a16:creationId xmlns:a16="http://schemas.microsoft.com/office/drawing/2014/main" id="{A87F1D6A-CE53-4F37-9B5A-C4B1CBA2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02380"/>
            <a:ext cx="51181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card-title-t1">
            <a:extLst xmlns:a="http://schemas.openxmlformats.org/drawingml/2006/main">
              <a:ext uri="{FF2B5EF4-FFF2-40B4-BE49-F238E27FC236}">
                <a16:creationId xmlns:a16="http://schemas.microsoft.com/office/drawing/2014/main" id="{743B623D-43BC-497C-9056-7D9204F2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4A4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4A42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8" name="card-body-t1">
            <a:extLst xmlns:a="http://schemas.openxmlformats.org/drawingml/2006/main">
              <a:ext uri="{FF2B5EF4-FFF2-40B4-BE49-F238E27FC236}">
                <a16:creationId xmlns:a16="http://schemas.microsoft.com/office/drawing/2014/main" id="{414270BA-70CB-48CE-B7F0-5667380A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459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Legal research needs faster source-backed understanding.</a:t>
            </a:r>
          </a:p>
        </p:txBody>
      </p:sp>
      <p:sp>
        <p:nvSpPr>
          <p:cNvPr id="9" name="card-t2">
            <a:extLst xmlns:a="http://schemas.openxmlformats.org/drawingml/2006/main">
              <a:ext uri="{FF2B5EF4-FFF2-40B4-BE49-F238E27FC236}">
                <a16:creationId xmlns:a16="http://schemas.microsoft.com/office/drawing/2014/main" id="{093F13A6-2760-4C3D-AB52-60D30F7B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802380"/>
            <a:ext cx="51181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title-t2">
            <a:extLst xmlns:a="http://schemas.openxmlformats.org/drawingml/2006/main">
              <a:ext uri="{FF2B5EF4-FFF2-40B4-BE49-F238E27FC236}">
                <a16:creationId xmlns:a16="http://schemas.microsoft.com/office/drawing/2014/main" id="{E61A5165-31D9-42FE-B8F8-A00F9258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F9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F6F9F"/>
                </a:solidFill>
                <a:latin typeface="Georgia"/>
                <a:ea typeface="Georgia"/>
                <a:cs typeface="Georgia"/>
              </a:rPr>
              <a:t>Innovation</a:t>
            </a:r>
          </a:p>
        </p:txBody>
      </p:sp>
      <p:sp>
        <p:nvSpPr>
          <p:cNvPr id="11" name="card-body-t2">
            <a:extLst xmlns:a="http://schemas.openxmlformats.org/drawingml/2006/main">
              <a:ext uri="{FF2B5EF4-FFF2-40B4-BE49-F238E27FC236}">
                <a16:creationId xmlns:a16="http://schemas.microsoft.com/office/drawing/2014/main" id="{20D9B240-3289-4027-8288-8B896E12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59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RAG plus citation verification builds trust.</a:t>
            </a:r>
          </a:p>
        </p:txBody>
      </p:sp>
      <p:sp>
        <p:nvSpPr>
          <p:cNvPr id="12" name="card-t3">
            <a:extLst xmlns:a="http://schemas.openxmlformats.org/drawingml/2006/main">
              <a:ext uri="{FF2B5EF4-FFF2-40B4-BE49-F238E27FC236}">
                <a16:creationId xmlns:a16="http://schemas.microsoft.com/office/drawing/2014/main" id="{B66B122D-4B1E-49D9-B535-1A049E8F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900" y="3802380"/>
            <a:ext cx="51181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card-title-t3">
            <a:extLst xmlns:a="http://schemas.openxmlformats.org/drawingml/2006/main">
              <a:ext uri="{FF2B5EF4-FFF2-40B4-BE49-F238E27FC236}">
                <a16:creationId xmlns:a16="http://schemas.microsoft.com/office/drawing/2014/main" id="{E567F3C8-A4EC-4FEA-A73B-43AE44A2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386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8A5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8A55"/>
                </a:solidFill>
                <a:latin typeface="Georgia"/>
                <a:ea typeface="Georgia"/>
                <a:cs typeface="Georgia"/>
              </a:rPr>
              <a:t>Impact</a:t>
            </a:r>
          </a:p>
        </p:txBody>
      </p:sp>
      <p:sp>
        <p:nvSpPr>
          <p:cNvPr id="14" name="card-body-t3">
            <a:extLst xmlns:a="http://schemas.openxmlformats.org/drawingml/2006/main">
              <a:ext uri="{FF2B5EF4-FFF2-40B4-BE49-F238E27FC236}">
                <a16:creationId xmlns:a16="http://schemas.microsoft.com/office/drawing/2014/main" id="{E73DBB83-3AF1-4B71-AC5F-C0391BE1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57700"/>
            <a:ext cx="459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1B232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B232D"/>
                </a:solidFill>
                <a:latin typeface="Aptos"/>
                <a:ea typeface="Aptos"/>
                <a:cs typeface="Aptos"/>
              </a:rPr>
              <a:t>Useful for students, researchers, and MUN preparation.</a:t>
            </a:r>
          </a:p>
        </p:txBody>
      </p:sp>
      <p:sp>
        <p:nvSpPr>
          <p:cNvPr id="15" name="s10-questions">
            <a:extLst xmlns:a="http://schemas.openxmlformats.org/drawingml/2006/main">
              <a:ext uri="{FF2B5EF4-FFF2-40B4-BE49-F238E27FC236}">
                <a16:creationId xmlns:a16="http://schemas.microsoft.com/office/drawing/2014/main" id="{53F27068-B470-4145-A8C4-1F0D12C5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91300"/>
            <a:ext cx="16002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01419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419"/>
                </a:solidFill>
                <a:latin typeface="Georgia"/>
                <a:ea typeface="Georgia"/>
                <a:cs typeface="Georgia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83452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2026-05-12T16:30:58.2850000Z</dcterms:created>
  <dcterms:modified xsi:type="dcterms:W3CDTF">2026-05-12T16:30:58.2850000Z</dcterms:modified>
</coreProperties>
</file>